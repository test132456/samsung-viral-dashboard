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7579" r:id="rId3"/>
    <p:sldId id="7583" r:id="rId4"/>
    <p:sldId id="7588" r:id="rId5"/>
    <p:sldId id="7585" r:id="rId6"/>
    <p:sldId id="7582" r:id="rId7"/>
    <p:sldId id="7584" r:id="rId8"/>
    <p:sldId id="7586" r:id="rId9"/>
    <p:sldId id="758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56082"/>
    <a:srgbClr val="CAE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88228" autoAdjust="0"/>
  </p:normalViewPr>
  <p:slideViewPr>
    <p:cSldViewPr snapToGrid="0">
      <p:cViewPr varScale="1">
        <p:scale>
          <a:sx n="90" d="100"/>
          <a:sy n="90" d="100"/>
        </p:scale>
        <p:origin x="10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6EEB2-89DE-4BBF-A13A-9C77944D0F03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694E8-5E8F-46A3-93D9-2E92D23F02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80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1F1D-EA91-BDCD-F897-738B913B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298016-1E39-925C-7321-ADA477561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C6EF3C-35A8-DFFD-1EE0-9953150FF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293B42-4CA1-1C8F-BC01-216A3B735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385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3C5B0-DB91-BEBA-8B27-9CEDB312F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562FE1-B39B-14D1-9808-A34FF0220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CC784D-797B-588D-CB99-ACC647C85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37C0F-05A5-F1DC-C700-846E02A78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096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AF04-949A-B8A0-0437-11596FE0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853038-9FF0-1F3B-270F-EA05A45D7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54C78D-D2CE-5952-CAA8-8D94CE95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812DD1-8574-AA13-F567-08BAB4182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651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8F46-672F-3215-D285-2E695721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637D79-D7C7-6D8F-AFFC-13ECE5716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C1D309-228A-2644-9708-311427779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5407F-5CD1-FEF9-F702-E8F6F5223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34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C0F0-C22B-7F4E-20EA-32690D2E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07F135-B52D-C2C6-3E61-7E09F32A3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E501BA-4646-FA42-A92F-C42D859DB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25A8B-5D9A-7B9B-9C88-478953E33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039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B232-8CDF-9117-E891-346E1D6D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08954-C670-DB57-7C1D-15F99CCDF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89CE93-CA0A-05EA-81AD-F0FE60078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C16E1-65D9-03FB-9662-1B21F6986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366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9115-1339-21B3-4AF0-0A6824EE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3CAF63-B0BE-46B1-79D3-7FCA0B328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0E1BA-6BC4-08D5-C724-FE541F972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86655-BE1C-374F-9C84-B9918398F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756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1728-4184-C3AA-9821-286B4F2D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DA5501-B3CF-BB4E-8089-58125F726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2DB56D-26C0-9B86-9E13-9E7EC005B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A4E6B-B5B7-4ADB-C3EB-2922E7267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9455CA-0E25-4226-9EB9-BBD6D2FB1626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AppleSDGothicNeoM00" panose="02000503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AppleSDGothicNeoM00" panose="02000503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968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C8285-45EF-30B6-B423-014842AD6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8FBE6F-D6FF-40DB-73CD-C74FF3C06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A40C1-DBF8-D1EA-F205-CBB5D912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289E5-C0AB-16D0-8BF1-FBC00BEE2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41EE7C-4F6E-A7BC-8034-BFA395B2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8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0BFBC-903A-C4B3-BE5A-D7C9BEBB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A94424-43CF-6254-51C1-47F50BCB4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90599-E971-FF76-C901-0343AD93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E4AA6B-6D30-D153-1503-2E7316A0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1167B4-1EB9-116E-984B-88A55C66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372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4033A-34A3-360B-EA0A-6A16DFA60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E7C401-2410-8309-E7A8-BE789BA31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0EE80C-CE5B-7386-BEE1-B63DF7DE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F25955-AA0D-3B76-5A30-12D7C9AF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AF6788-B0ED-3CC0-C879-3D745136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439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2455A-B842-3EEC-AFE0-32BC53B9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2ED390-00D3-500C-34C6-946B69ECB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BA7DE7-8B9B-A803-91FE-BE43755EF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DE5C01-6696-168B-58A9-4CDD0E9A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34B58C-D12A-9EDB-D2DA-8BE5B498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0E8BB3-9C27-86D7-DD3D-AAB57329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21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6FEF3-4412-1773-BAFA-1D0B955A3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D20D03-CC35-3EA2-1930-FF2E576A6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D4C2E0-74C3-D770-1995-03A1E0405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F2CC04-72E1-1E7A-C389-F917FEE4D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3D4998-A221-8E7F-7551-84999F816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F15266-A088-2261-55C3-956CD3A8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6846C5-3E31-88A0-01B2-9406A6E7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377D96-06DA-2B87-3CD7-23526A56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4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A4D0F-595C-F17E-89D3-2CA22F8A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0DB99F-F7C7-62AD-04D8-104FB08B1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C9609D-94EA-E78E-77BA-BB74FDDF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0BD96A-54FB-B8CE-2E5B-F93601B7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09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CEA3B6-68DD-FF17-CF31-1659A53A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B0FA8D-E9FA-23BB-C785-10E9946A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F8828-F23B-63B4-A238-41516B41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6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B8610-830D-BF2D-CD26-D8C7F468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35175-2A9C-7F94-907B-2EB7CA82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6B010C-4064-92B6-9732-62D095F4C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997FB-1B13-1C67-B73A-C8133634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906DB5-809A-CD75-29C4-8F4BAA10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0B17B-9DD9-7289-142D-73D529DF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999D7-A8D5-23EE-A600-C4641486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4E476B-A938-1E6D-F5CB-D619F5A60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009E8-F70B-526D-30DD-E2623EB13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4DED2-0172-53E9-4558-B467D51E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58657A-5A9A-BB03-2DD1-6F956970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BCA370-BE49-1B06-6524-5079E14A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27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9BB45-9AD0-F55E-3716-2F429E6A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9158FA-96B9-5611-EB91-0D1824D89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43B4F3-70DD-0625-3CA8-3D1A65A0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0983E-38D4-1404-D1B4-BBDC0B00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91FA46-A609-5F5A-1A7B-230242EB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782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5F93F2-BC13-6523-68C0-7B213251A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C0FD9E-D229-1928-D8B1-0204B1C8A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272716-0110-279A-1354-714D4E16B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FCA837-295B-693B-2099-986E6952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A68A1D-7105-7912-584F-71236F27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26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F6F37CC3-807F-94DD-2E22-5D10A5634449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gradFill flip="none" rotWithShape="1">
            <a:gsLst>
              <a:gs pos="0">
                <a:srgbClr val="00A1EF"/>
              </a:gs>
              <a:gs pos="100000">
                <a:srgbClr val="0043BC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7" name="직각 삼각형 36">
            <a:extLst>
              <a:ext uri="{FF2B5EF4-FFF2-40B4-BE49-F238E27FC236}">
                <a16:creationId xmlns:a16="http://schemas.microsoft.com/office/drawing/2014/main" id="{CF7160E7-7469-87D9-2661-6043923FEED5}"/>
              </a:ext>
            </a:extLst>
          </p:cNvPr>
          <p:cNvSpPr/>
          <p:nvPr userDrawn="1"/>
        </p:nvSpPr>
        <p:spPr>
          <a:xfrm rot="5400000">
            <a:off x="101600" y="-101600"/>
            <a:ext cx="3831771" cy="4034971"/>
          </a:xfrm>
          <a:prstGeom prst="rtTriangle">
            <a:avLst/>
          </a:prstGeom>
          <a:solidFill>
            <a:srgbClr val="07BDFD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71B7B5B1-A319-9D0C-0492-4401FAA9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100" y="6319804"/>
            <a:ext cx="1237801" cy="464175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CFD46942-DF74-6ADC-0642-348AF5419473}"/>
              </a:ext>
            </a:extLst>
          </p:cNvPr>
          <p:cNvGrpSpPr/>
          <p:nvPr userDrawn="1"/>
        </p:nvGrpSpPr>
        <p:grpSpPr>
          <a:xfrm>
            <a:off x="8157030" y="2571770"/>
            <a:ext cx="4776738" cy="4773186"/>
            <a:chOff x="8157030" y="2571770"/>
            <a:chExt cx="4776738" cy="4773186"/>
          </a:xfrm>
        </p:grpSpPr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3EFCEA1-8827-6920-D3DE-B601C08A5862}"/>
                </a:ext>
              </a:extLst>
            </p:cNvPr>
            <p:cNvSpPr/>
            <p:nvPr userDrawn="1"/>
          </p:nvSpPr>
          <p:spPr>
            <a:xfrm rot="18990646">
              <a:off x="9294890" y="2571770"/>
              <a:ext cx="3627382" cy="675426"/>
            </a:xfrm>
            <a:custGeom>
              <a:avLst/>
              <a:gdLst>
                <a:gd name="connsiteX0" fmla="*/ 3627382 w 3627382"/>
                <a:gd name="connsiteY0" fmla="*/ 0 h 675426"/>
                <a:gd name="connsiteX1" fmla="*/ 2986667 w 3627382"/>
                <a:gd name="connsiteY1" fmla="*/ 675426 h 675426"/>
                <a:gd name="connsiteX2" fmla="*/ 337713 w 3627382"/>
                <a:gd name="connsiteY2" fmla="*/ 675426 h 675426"/>
                <a:gd name="connsiteX3" fmla="*/ 0 w 3627382"/>
                <a:gd name="connsiteY3" fmla="*/ 337714 h 675426"/>
                <a:gd name="connsiteX4" fmla="*/ 337713 w 3627382"/>
                <a:gd name="connsiteY4" fmla="*/ 0 h 675426"/>
                <a:gd name="connsiteX5" fmla="*/ 3627382 w 3627382"/>
                <a:gd name="connsiteY5" fmla="*/ 0 h 675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27382" h="675426">
                  <a:moveTo>
                    <a:pt x="3627382" y="0"/>
                  </a:moveTo>
                  <a:lnTo>
                    <a:pt x="2986667" y="675426"/>
                  </a:lnTo>
                  <a:lnTo>
                    <a:pt x="337713" y="675426"/>
                  </a:lnTo>
                  <a:cubicBezTo>
                    <a:pt x="151198" y="675426"/>
                    <a:pt x="0" y="524227"/>
                    <a:pt x="0" y="337714"/>
                  </a:cubicBezTo>
                  <a:cubicBezTo>
                    <a:pt x="0" y="151199"/>
                    <a:pt x="151199" y="1"/>
                    <a:pt x="337713" y="0"/>
                  </a:cubicBezTo>
                  <a:lnTo>
                    <a:pt x="3627382" y="0"/>
                  </a:lnTo>
                  <a:close/>
                </a:path>
              </a:pathLst>
            </a:custGeom>
            <a:solidFill>
              <a:srgbClr val="BAE0FC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1" name="직각 삼각형 40">
              <a:extLst>
                <a:ext uri="{FF2B5EF4-FFF2-40B4-BE49-F238E27FC236}">
                  <a16:creationId xmlns:a16="http://schemas.microsoft.com/office/drawing/2014/main" id="{5D560B14-8F7F-6EDD-7FB9-8756FC42E683}"/>
                </a:ext>
              </a:extLst>
            </p:cNvPr>
            <p:cNvSpPr/>
            <p:nvPr userDrawn="1"/>
          </p:nvSpPr>
          <p:spPr>
            <a:xfrm rot="16200000">
              <a:off x="8258630" y="2924629"/>
              <a:ext cx="3831771" cy="4034971"/>
            </a:xfrm>
            <a:prstGeom prst="rtTriangle">
              <a:avLst/>
            </a:prstGeom>
            <a:solidFill>
              <a:srgbClr val="07BDFD">
                <a:alpha val="7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BD795B80-C335-7341-B1C6-83C6AC8B8CCB}"/>
                </a:ext>
              </a:extLst>
            </p:cNvPr>
            <p:cNvSpPr/>
            <p:nvPr userDrawn="1"/>
          </p:nvSpPr>
          <p:spPr>
            <a:xfrm rot="18990646">
              <a:off x="9744330" y="5492495"/>
              <a:ext cx="3189438" cy="1852461"/>
            </a:xfrm>
            <a:custGeom>
              <a:avLst/>
              <a:gdLst>
                <a:gd name="connsiteX0" fmla="*/ 3011395 w 3189438"/>
                <a:gd name="connsiteY0" fmla="*/ 268342 h 1852461"/>
                <a:gd name="connsiteX1" fmla="*/ 3179340 w 3189438"/>
                <a:gd name="connsiteY1" fmla="*/ 485465 h 1852461"/>
                <a:gd name="connsiteX2" fmla="*/ 3189438 w 3189438"/>
                <a:gd name="connsiteY2" fmla="*/ 505566 h 1852461"/>
                <a:gd name="connsiteX3" fmla="*/ 1911763 w 3189438"/>
                <a:gd name="connsiteY3" fmla="*/ 1852461 h 1852461"/>
                <a:gd name="connsiteX4" fmla="*/ 0 w 3189438"/>
                <a:gd name="connsiteY4" fmla="*/ 38948 h 1852461"/>
                <a:gd name="connsiteX5" fmla="*/ 2332128 w 3189438"/>
                <a:gd name="connsiteY5" fmla="*/ 135 h 1852461"/>
                <a:gd name="connsiteX6" fmla="*/ 3011395 w 3189438"/>
                <a:gd name="connsiteY6" fmla="*/ 268342 h 1852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89438" h="1852461">
                  <a:moveTo>
                    <a:pt x="3011395" y="268342"/>
                  </a:moveTo>
                  <a:cubicBezTo>
                    <a:pt x="3077216" y="332007"/>
                    <a:pt x="3133929" y="405089"/>
                    <a:pt x="3179340" y="485465"/>
                  </a:cubicBezTo>
                  <a:lnTo>
                    <a:pt x="3189438" y="505566"/>
                  </a:lnTo>
                  <a:lnTo>
                    <a:pt x="1911763" y="1852461"/>
                  </a:lnTo>
                  <a:lnTo>
                    <a:pt x="0" y="38948"/>
                  </a:lnTo>
                  <a:lnTo>
                    <a:pt x="2332128" y="135"/>
                  </a:lnTo>
                  <a:cubicBezTo>
                    <a:pt x="2595582" y="-4251"/>
                    <a:pt x="2835872" y="98566"/>
                    <a:pt x="3011395" y="268342"/>
                  </a:cubicBezTo>
                  <a:close/>
                </a:path>
              </a:pathLst>
            </a:custGeom>
            <a:solidFill>
              <a:srgbClr val="30E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E87F82F-6DD1-D9C0-55A2-751AF6C924E8}"/>
              </a:ext>
            </a:extLst>
          </p:cNvPr>
          <p:cNvGrpSpPr/>
          <p:nvPr userDrawn="1"/>
        </p:nvGrpSpPr>
        <p:grpSpPr>
          <a:xfrm>
            <a:off x="2683201" y="2256193"/>
            <a:ext cx="6825598" cy="456429"/>
            <a:chOff x="3141982" y="2101370"/>
            <a:chExt cx="5640990" cy="456429"/>
          </a:xfrm>
        </p:grpSpPr>
        <p:sp>
          <p:nvSpPr>
            <p:cNvPr id="31" name="오른쪽 대괄호 30">
              <a:extLst>
                <a:ext uri="{FF2B5EF4-FFF2-40B4-BE49-F238E27FC236}">
                  <a16:creationId xmlns:a16="http://schemas.microsoft.com/office/drawing/2014/main" id="{52AEF929-1D02-1297-9597-886534F6D521}"/>
                </a:ext>
              </a:extLst>
            </p:cNvPr>
            <p:cNvSpPr/>
            <p:nvPr/>
          </p:nvSpPr>
          <p:spPr>
            <a:xfrm rot="16200000">
              <a:off x="5740528" y="-489745"/>
              <a:ext cx="451330" cy="5633559"/>
            </a:xfrm>
            <a:prstGeom prst="rightBracket">
              <a:avLst>
                <a:gd name="adj" fmla="val 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A7FD948-E603-D6B9-3EF3-25BBA0AE5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1982" y="2402682"/>
              <a:ext cx="151285" cy="15511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A7A8832-46BB-DF92-6949-E6DF027DB74D}"/>
              </a:ext>
            </a:extLst>
          </p:cNvPr>
          <p:cNvGrpSpPr/>
          <p:nvPr userDrawn="1"/>
        </p:nvGrpSpPr>
        <p:grpSpPr>
          <a:xfrm rot="10800000">
            <a:off x="2683201" y="4145379"/>
            <a:ext cx="6825598" cy="456429"/>
            <a:chOff x="3141982" y="2101370"/>
            <a:chExt cx="5640990" cy="456429"/>
          </a:xfrm>
        </p:grpSpPr>
        <p:sp>
          <p:nvSpPr>
            <p:cNvPr id="34" name="오른쪽 대괄호 33">
              <a:extLst>
                <a:ext uri="{FF2B5EF4-FFF2-40B4-BE49-F238E27FC236}">
                  <a16:creationId xmlns:a16="http://schemas.microsoft.com/office/drawing/2014/main" id="{F1595F7A-39BF-B162-75DF-1F0828A669D3}"/>
                </a:ext>
              </a:extLst>
            </p:cNvPr>
            <p:cNvSpPr/>
            <p:nvPr/>
          </p:nvSpPr>
          <p:spPr>
            <a:xfrm rot="16200000">
              <a:off x="5740528" y="-489745"/>
              <a:ext cx="451330" cy="5633559"/>
            </a:xfrm>
            <a:prstGeom prst="rightBracket">
              <a:avLst>
                <a:gd name="adj" fmla="val 0"/>
              </a:avLst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D9A67C4-397F-CCD6-3F35-29F784E4B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1982" y="2402682"/>
              <a:ext cx="151285" cy="155117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2086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F93FC71-DD42-AD94-4B42-3466142CF9BB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941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0BFA36-158A-4228-9F1F-1AC232DC2AA0}" type="slidenum">
              <a:rPr lang="ko-KR" altLang="en-US" sz="900" smtClean="0">
                <a:solidFill>
                  <a:srgbClr val="898989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pPr/>
              <a:t>‹#›</a:t>
            </a:fld>
            <a:r>
              <a:rPr lang="ko-KR" altLang="en-US" sz="900" dirty="0">
                <a:solidFill>
                  <a:srgbClr val="898989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 </a:t>
            </a:r>
            <a:r>
              <a:rPr lang="en-US" altLang="ko-KR" sz="900" dirty="0">
                <a:solidFill>
                  <a:srgbClr val="898989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</a:rPr>
              <a:t>/ 30</a:t>
            </a:r>
            <a:endParaRPr lang="ko-KR" altLang="en-US" sz="900" dirty="0">
              <a:solidFill>
                <a:srgbClr val="898989"/>
              </a:solidFill>
              <a:latin typeface="AppleSDGothicNeoM00" panose="02000503000000000000" pitchFamily="2" charset="-127"/>
              <a:ea typeface="AppleSDGothicNeoM00" panose="02000503000000000000" pitchFamily="2" charset="-127"/>
            </a:endParaRPr>
          </a:p>
        </p:txBody>
      </p:sp>
      <p:pic>
        <p:nvPicPr>
          <p:cNvPr id="8" name="그림 7" descr="폰트, 그래픽, 그래픽 디자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B8ECF0-E206-D733-7351-EBBCE119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657" y="182191"/>
            <a:ext cx="1244379" cy="168792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AE624504-757C-C0E2-BC9B-F56ED8B6A6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091" y="266587"/>
            <a:ext cx="4937157" cy="309152"/>
          </a:xfrm>
        </p:spPr>
        <p:txBody>
          <a:bodyPr vert="horz" lIns="90000" tIns="46800" rIns="90000" bIns="46800" rtlCol="0">
            <a:noAutofit/>
          </a:bodyPr>
          <a:lstStyle>
            <a:lvl1pPr marL="0" indent="0">
              <a:buNone/>
              <a:defRPr sz="1600">
                <a:solidFill>
                  <a:srgbClr val="7F7F7F"/>
                </a:solidFill>
                <a:highlight>
                  <a:srgbClr val="F2F2F2"/>
                </a:highligh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r>
              <a:rPr lang="ko-KR" altLang="en-US"/>
              <a:t>타이틀</a:t>
            </a:r>
          </a:p>
        </p:txBody>
      </p:sp>
    </p:spTree>
    <p:extLst>
      <p:ext uri="{BB962C8B-B14F-4D97-AF65-F5344CB8AC3E}">
        <p14:creationId xmlns:p14="http://schemas.microsoft.com/office/powerpoint/2010/main" val="1361452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20FA50-5FCF-E0BD-20AF-2599B1A7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50E578-9412-B3A5-79BB-64C094AB6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B37550-7E86-810F-35B5-1CBC856DD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0D9229-FAA7-4480-B531-E15EAFD07EFA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DEA558-083A-2E86-C85E-AA1BFB66A2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EDD9A-EFDD-7F95-317B-0C8BD2E94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183EE-7F7C-4F19-B364-6F5573B8A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8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irect.samsungfire.com/mall/PP030701_001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irect.samsungfire.com/ria/pc/product/factory/?state=Front&amp;product=travel&amp;utm_campaign=travel&amp;utm_source=naver&amp;utm_medium=brand&amp;utm_term=%ED%95%B4%EC%99%B8%EC%97%AC%ED%96%89%EB%B8%8C%EB%9E%9C%EB%93%9C_%EC%88%98%ED%95%98%EB%AC%BC%EC%A7%80%EC%97%B0_%EB%A9%94%EC%9D%B8%EC%9D%B4%EB%AF%B8%EC%A7%80_%ED%95%B4%EC%99%B8%EC%97%AC%ED%96%89&amp;utm_content=F2509K0007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blog.naver.com/bian258/224104607284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hyperlink" Target="https://www.samsungfire.com/vh/page/VH.HPIF0103.do" TargetMode="External"/><Relationship Id="rId4" Type="http://schemas.openxmlformats.org/officeDocument/2006/relationships/hyperlink" Target="https://blog.naver.com/why_jaaay17/224104922751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irect.samsungfire.com/mall/PP030701_001.html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irect.samsungfire.com/m/mall/MP030701_001.html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hyperlink" Target="https://direct.samsungfire.com/ria/pc/product/factory/?state=Front&amp;product=travel&amp;utm_campaign=travel&amp;utm_source=naver&amp;utm_medium=brand&amp;utm_term=%ED%95%B4%EC%99%B8%EC%97%AC%ED%96%89_%EC%8B%A0%EB%8B%B4%EB%B3%B4_%EB%A9%94%EC%9D%B8%EC%9D%B4%EB%AF%B8%EC%A7%80_%ED%95%B4%EC%99%B8%EC%97%AC%ED%96%89&amp;utm_content=F2603K0002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irect.samsungfire.com/mall/PP030701_001.html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direct.samsungfire.com/m/mall/MP030701_001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A100D-CD1C-612C-1B24-594F5D04010C}"/>
              </a:ext>
            </a:extLst>
          </p:cNvPr>
          <p:cNvSpPr txBox="1"/>
          <p:nvPr/>
        </p:nvSpPr>
        <p:spPr>
          <a:xfrm>
            <a:off x="3919773" y="2654207"/>
            <a:ext cx="43524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삼성화재 다이렉트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  <a:p>
            <a:pPr lvl="0" algn="ctr">
              <a:defRPr/>
            </a:pPr>
            <a:r>
              <a:rPr lang="ko-KR" altLang="en-US" sz="40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블로그 원고 작성 가이드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3AC7F-775E-8BFF-4F97-BFCC71844E2E}"/>
              </a:ext>
            </a:extLst>
          </p:cNvPr>
          <p:cNvSpPr txBox="1"/>
          <p:nvPr/>
        </p:nvSpPr>
        <p:spPr>
          <a:xfrm>
            <a:off x="5375293" y="4022882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</a:rPr>
              <a:t>2026.06.22</a:t>
            </a:r>
          </a:p>
        </p:txBody>
      </p:sp>
    </p:spTree>
    <p:extLst>
      <p:ext uri="{BB962C8B-B14F-4D97-AF65-F5344CB8AC3E}">
        <p14:creationId xmlns:p14="http://schemas.microsoft.com/office/powerpoint/2010/main" val="372640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17E1-0453-CAB1-A6C9-51496808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CF837CFA-5223-66B4-6E7D-5816F716C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sz="1100" dirty="0"/>
              <a:t>블로그 원고 </a:t>
            </a:r>
            <a:r>
              <a:rPr lang="en-US" altLang="ko-KR" sz="1100" dirty="0"/>
              <a:t>(</a:t>
            </a:r>
            <a:r>
              <a:rPr lang="ko-KR" altLang="en-US" sz="1100" dirty="0"/>
              <a:t>배포형</a:t>
            </a:r>
            <a:r>
              <a:rPr lang="en-US" altLang="ko-KR" sz="1100" dirty="0"/>
              <a:t>) </a:t>
            </a:r>
            <a:r>
              <a:rPr lang="ko-KR" altLang="en-US" sz="1100" dirty="0"/>
              <a:t>및 자사 블로그 원고 작성 가이드</a:t>
            </a:r>
            <a:endParaRPr lang="en-US" altLang="ko-KR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5E8C2C-E946-A147-38FA-783F836920B9}"/>
              </a:ext>
            </a:extLst>
          </p:cNvPr>
          <p:cNvSpPr/>
          <p:nvPr/>
        </p:nvSpPr>
        <p:spPr>
          <a:xfrm>
            <a:off x="341244" y="575739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요청 및 참고 사항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503FB-D9FD-61F5-EC55-AD2BC6F56F31}"/>
              </a:ext>
            </a:extLst>
          </p:cNvPr>
          <p:cNvSpPr txBox="1"/>
          <p:nvPr/>
        </p:nvSpPr>
        <p:spPr>
          <a:xfrm>
            <a:off x="341244" y="884891"/>
            <a:ext cx="11509513" cy="3516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1)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정확한 브랜드 명과 보험명으로 언급 부탁드립니다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. (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브랜드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삼성화재 다이렉트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/ 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보험명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2) 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타 보험사 및 타 </a:t>
            </a:r>
            <a:r>
              <a:rPr lang="ko-KR" altLang="en-US" sz="12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보험명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언급 지양 부탁드립니다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3)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게시글 하단 해당 해시태그 포함 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요청드립니다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: #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삼성화재다이렉트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삼성화재다이렉트해외여행보험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항공지연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지연결항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해외여행자보험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해외여행보험추천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해외여행보험후기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(+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이외 상위 노출 가능한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'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'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관련 키워드 추가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4) '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or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여행자보험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'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검색 시 상위 노출 필요한 점 고려해 작성 부탁드립니다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  <a:endParaRPr lang="ko-KR" altLang="en-US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ㄴ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① 본문 내 정확한 키워드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'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' 3~5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개 삽입 필수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ㄴ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② 해외여행보험 연관 키워드 삽입 필수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여행자보험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해외여행자보험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 여행자보험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ㄴ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③ 이미지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10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개 이상 삽입 필수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ㄴ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④ 목표 키워드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제목 시작점 배치 및 제목 글자 수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25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자 이내 작성</a:t>
            </a:r>
            <a:endParaRPr lang="en-US" altLang="ko-KR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5) 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★ 보험상품 확인 링크 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하기 두 링크 외 확인되는 상품에 대한 내용 작성 불가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즉 </a:t>
            </a:r>
            <a:r>
              <a:rPr lang="en-US" altLang="ko-KR" sz="1400" dirty="0">
                <a:highlight>
                  <a:srgbClr val="FFFF00"/>
                </a:highlight>
                <a:latin typeface="프리젠테이션 7 Bold" pitchFamily="2" charset="-127"/>
                <a:ea typeface="프리젠테이션 7 Bold" pitchFamily="2" charset="-127"/>
              </a:rPr>
              <a:t>‘</a:t>
            </a:r>
            <a:r>
              <a:rPr lang="ko-KR" altLang="en-US" sz="1400" dirty="0">
                <a:highlight>
                  <a:srgbClr val="FFFF00"/>
                </a:highlight>
                <a:latin typeface="프리젠테이션 7 Bold" pitchFamily="2" charset="-127"/>
                <a:ea typeface="프리젠테이션 7 Bold" pitchFamily="2" charset="-127"/>
              </a:rPr>
              <a:t>삼성화재 다이렉트 해외여행보험</a:t>
            </a:r>
            <a:r>
              <a:rPr lang="en-US" altLang="ko-KR" sz="1400" dirty="0">
                <a:highlight>
                  <a:srgbClr val="FFFF00"/>
                </a:highlight>
                <a:latin typeface="프리젠테이션 7 Bold" pitchFamily="2" charset="-127"/>
                <a:ea typeface="프리젠테이션 7 Bold" pitchFamily="2" charset="-127"/>
              </a:rPr>
              <a:t>’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상품만 가능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ㄴ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 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(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상품 상세페이지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)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, (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  <a:hlinkClick r:id="rId4"/>
              </a:rPr>
              <a:t>리아 페이지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6) 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게시한 블로그 원고는 보험 개정 및 </a:t>
            </a:r>
            <a:r>
              <a:rPr lang="ko-KR" altLang="en-US" sz="14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심의필</a:t>
            </a:r>
            <a:r>
              <a:rPr lang="ko-KR" altLang="en-US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기간 만료에 따라 수정 및 삭제 될 수 있습니다</a:t>
            </a:r>
            <a:r>
              <a:rPr lang="en-US" altLang="ko-KR" sz="14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753A29-7B28-BB60-49EA-C67F5ABD9D82}"/>
              </a:ext>
            </a:extLst>
          </p:cNvPr>
          <p:cNvSpPr/>
          <p:nvPr/>
        </p:nvSpPr>
        <p:spPr>
          <a:xfrm>
            <a:off x="341244" y="4401688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필수 고지문구 삽입 필요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D00904-85C3-B900-DC46-6E88A18984D1}"/>
              </a:ext>
            </a:extLst>
          </p:cNvPr>
          <p:cNvSpPr txBox="1"/>
          <p:nvPr/>
        </p:nvSpPr>
        <p:spPr>
          <a:xfrm>
            <a:off x="341244" y="4710840"/>
            <a:ext cx="11509513" cy="172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본문 첫 부분에 하기 유료 광고 문안 삽입 필요합니다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*이 포스팅은 삼성화재 </a:t>
            </a:r>
            <a:r>
              <a:rPr lang="ko-KR" altLang="en-US" sz="12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다이렉트로부터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소정의 광고비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원고료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를 받아 작성되었습니다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2)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본문 하단 링크 삽입 필요합니다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.(*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심의 완료 후 링크 전달 예정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 가입 링크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https://direct.samsungfire.com/mall/PP030701_001.html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3)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하기 고지 문구는 본문 하단 기입 필수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준법감시인확인필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번호는 원고 심의 완료 후 최종 번호로 전달드릴 예정입니다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DAEC8-EF75-5D9E-FE98-6ECFB78A5062}"/>
              </a:ext>
            </a:extLst>
          </p:cNvPr>
          <p:cNvSpPr txBox="1"/>
          <p:nvPr/>
        </p:nvSpPr>
        <p:spPr>
          <a:xfrm>
            <a:off x="341244" y="6432593"/>
            <a:ext cx="11509513" cy="898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가입 시 알아 두실 사항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이 보험계약은 예금자보호법에 따라 해약환급금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또는 만기 시 보험금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에 기타지급금을 합한 금액이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인당 “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억원까지”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본 보험회사의 여타 보호상품과 합산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보호됩니다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이와 별도로 본 보험회사 보호상품의 사고보험금을 합산한 금액이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인당 “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억원까지” 보호됩니다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다만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보험계약자 및 보험료 납부자가 법인인 보험계약의 경우에는 보호되지 않습니다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보험계약자가 기존에 체결했던 보험계약을 해지하고 다른 보험계약을 체결하면 보험 인수가 거절되거나 보험료가 인상되거나 보장내용이 달라질 수 있습니다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또한 지급한도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면책사항 등에 따라 보험금 지급이 제한될 수 있습니다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보험계약 체결 전 상품설명서 및 약관을 읽어 보시기 바랍니다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. </a:t>
            </a:r>
            <a:r>
              <a:rPr lang="ko-KR" altLang="en-US" sz="900" dirty="0" err="1">
                <a:latin typeface="프리젠테이션 4 Regular" pitchFamily="2" charset="-127"/>
                <a:ea typeface="프리젠테이션 4 Regular" pitchFamily="2" charset="-127"/>
              </a:rPr>
              <a:t>준법감시인확인필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 제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00-0-0000</a:t>
            </a:r>
            <a:r>
              <a:rPr lang="ko-KR" altLang="en-US" sz="900" dirty="0">
                <a:latin typeface="프리젠테이션 4 Regular" pitchFamily="2" charset="-127"/>
                <a:ea typeface="프리젠테이션 4 Regular" pitchFamily="2" charset="-127"/>
              </a:rPr>
              <a:t>호 </a:t>
            </a:r>
            <a:r>
              <a:rPr lang="en-US" altLang="ko-KR" sz="900" dirty="0">
                <a:latin typeface="프리젠테이션 4 Regular" pitchFamily="2" charset="-127"/>
                <a:ea typeface="프리젠테이션 4 Regular" pitchFamily="2" charset="-127"/>
              </a:rPr>
              <a:t>(4078,'20.00.00~'20.00.00)</a:t>
            </a:r>
          </a:p>
        </p:txBody>
      </p:sp>
    </p:spTree>
    <p:extLst>
      <p:ext uri="{BB962C8B-B14F-4D97-AF65-F5344CB8AC3E}">
        <p14:creationId xmlns:p14="http://schemas.microsoft.com/office/powerpoint/2010/main" val="281768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1CC59-5745-B7D4-AD7F-A0B5435A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FD4F24E-4634-B998-FA2A-CDB667527A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135431-19F7-C305-3057-654875E27A8B}"/>
              </a:ext>
            </a:extLst>
          </p:cNvPr>
          <p:cNvSpPr/>
          <p:nvPr/>
        </p:nvSpPr>
        <p:spPr>
          <a:xfrm>
            <a:off x="341244" y="758857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메인 </a:t>
            </a:r>
            <a:r>
              <a:rPr lang="ko-KR" altLang="en-US" sz="16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담보명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및 </a:t>
            </a:r>
            <a:r>
              <a:rPr lang="ko-KR" altLang="en-US" sz="16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소구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포인트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 </a:t>
            </a:r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★약관에서 확인되는 정확한 </a:t>
            </a:r>
            <a:r>
              <a:rPr lang="ko-KR" altLang="en-US" sz="1600" dirty="0" err="1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담보명</a:t>
            </a:r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 그대로 기재 필요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0C7C56-3983-5638-BFF6-363B0253CE5D}"/>
              </a:ext>
            </a:extLst>
          </p:cNvPr>
          <p:cNvSpPr/>
          <p:nvPr/>
        </p:nvSpPr>
        <p:spPr>
          <a:xfrm>
            <a:off x="341244" y="3944518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기타 혜택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rgbClr val="FF000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F6B63E9-757D-740D-3F37-AF09C673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257676"/>
              </p:ext>
            </p:extLst>
          </p:nvPr>
        </p:nvGraphicFramePr>
        <p:xfrm>
          <a:off x="351877" y="4331078"/>
          <a:ext cx="11517688" cy="1230630"/>
        </p:xfrm>
        <a:graphic>
          <a:graphicData uri="http://schemas.openxmlformats.org/drawingml/2006/table">
            <a:tbl>
              <a:tblPr/>
              <a:tblGrid>
                <a:gridCol w="4513054">
                  <a:extLst>
                    <a:ext uri="{9D8B030D-6E8A-4147-A177-3AD203B41FA5}">
                      <a16:colId xmlns:a16="http://schemas.microsoft.com/office/drawing/2014/main" val="1775751883"/>
                    </a:ext>
                  </a:extLst>
                </a:gridCol>
                <a:gridCol w="940783">
                  <a:extLst>
                    <a:ext uri="{9D8B030D-6E8A-4147-A177-3AD203B41FA5}">
                      <a16:colId xmlns:a16="http://schemas.microsoft.com/office/drawing/2014/main" val="436446858"/>
                    </a:ext>
                  </a:extLst>
                </a:gridCol>
                <a:gridCol w="6063851">
                  <a:extLst>
                    <a:ext uri="{9D8B030D-6E8A-4147-A177-3AD203B41FA5}">
                      <a16:colId xmlns:a16="http://schemas.microsoft.com/office/drawing/2014/main" val="3674039688"/>
                    </a:ext>
                  </a:extLst>
                </a:gridCol>
              </a:tblGrid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소구점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하기 내용 함께 기입 필수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40072"/>
                  </a:ext>
                </a:extLst>
              </a:tr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동반가입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인 이상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10%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할인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할인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재가입할인과 중복적용 가능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424378"/>
                  </a:ext>
                </a:extLst>
              </a:tr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재가입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년 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5%, 2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회이상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할인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771364"/>
                  </a:ext>
                </a:extLst>
              </a:tr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전세계 어디서나 연결되는 우리말 도움 서비스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(365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24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서비스 이용 가능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편의성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353561"/>
                  </a:ext>
                </a:extLst>
              </a:tr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모바일 가입 가능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편의성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782432"/>
                  </a:ext>
                </a:extLst>
              </a:tr>
              <a:tr h="174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인천공항 가입데스크에서 가입 가능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편의성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74583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51B1B49-4336-FBA5-2A0F-0E0FFAA376E9}"/>
              </a:ext>
            </a:extLst>
          </p:cNvPr>
          <p:cNvSpPr/>
          <p:nvPr/>
        </p:nvSpPr>
        <p:spPr>
          <a:xfrm>
            <a:off x="341244" y="6189102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★ </a:t>
            </a:r>
            <a:r>
              <a:rPr lang="en-US" altLang="ko-KR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!!! </a:t>
            </a:r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이미지 또는 원고 내 보험료 금액 기재 불가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DF30603-1C8E-981B-1A99-E97164613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04139"/>
              </p:ext>
            </p:extLst>
          </p:nvPr>
        </p:nvGraphicFramePr>
        <p:xfrm>
          <a:off x="351877" y="1203395"/>
          <a:ext cx="11517688" cy="2605737"/>
        </p:xfrm>
        <a:graphic>
          <a:graphicData uri="http://schemas.openxmlformats.org/drawingml/2006/table">
            <a:tbl>
              <a:tblPr/>
              <a:tblGrid>
                <a:gridCol w="3677198">
                  <a:extLst>
                    <a:ext uri="{9D8B030D-6E8A-4147-A177-3AD203B41FA5}">
                      <a16:colId xmlns:a16="http://schemas.microsoft.com/office/drawing/2014/main" val="2211980158"/>
                    </a:ext>
                  </a:extLst>
                </a:gridCol>
                <a:gridCol w="3918986">
                  <a:extLst>
                    <a:ext uri="{9D8B030D-6E8A-4147-A177-3AD203B41FA5}">
                      <a16:colId xmlns:a16="http://schemas.microsoft.com/office/drawing/2014/main" val="4135871334"/>
                    </a:ext>
                  </a:extLst>
                </a:gridCol>
                <a:gridCol w="3921504">
                  <a:extLst>
                    <a:ext uri="{9D8B030D-6E8A-4147-A177-3AD203B41FA5}">
                      <a16:colId xmlns:a16="http://schemas.microsoft.com/office/drawing/2014/main" val="2276899408"/>
                    </a:ext>
                  </a:extLst>
                </a:gridCol>
              </a:tblGrid>
              <a:tr h="6679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특약명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소구 포인트 또는 타사 대비 강점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하기 내용 함께 기입 필수 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09142"/>
                  </a:ext>
                </a:extLst>
              </a:tr>
              <a:tr h="18814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항공기 지연 결항 보상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지수형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국내 출국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항공기 지연 결항 보상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지수형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국내 출국 제외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</a:t>
                      </a:r>
                    </a:p>
                  </a:txBody>
                  <a:tcPr marL="95131" marR="95131" marT="47565" marB="47565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출국 귀국 경유 항공기 모두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지연부터 정해진 금액 보상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*해당 특약 가입 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가입 금액 한도로 보장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*국내 출발 국제선 항공편 결항 또는 비행기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이상 지연 시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569936"/>
                  </a:ext>
                </a:extLst>
              </a:tr>
              <a:tr h="1974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탑승권만 찍어 올리면 보험금 청구 및 자동 지급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13462"/>
                  </a:ext>
                </a:extLst>
              </a:tr>
              <a:tr h="188144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수하물 지연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이상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)·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손실 추가비용 특약</a:t>
                      </a:r>
                    </a:p>
                  </a:txBody>
                  <a:tcPr marL="95131" marR="95131" marT="47565" marB="47565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위탁수하물이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 항공편의 예정된 도착시각으로부터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시간 이후 도착하는 경우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, 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*해당 특약 가입 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가입 금액 한도로 보장</a:t>
                      </a:r>
                    </a:p>
                  </a:txBody>
                  <a:tcPr marL="95131" marR="95131" marT="47565" marB="47565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06747"/>
                  </a:ext>
                </a:extLst>
              </a:tr>
              <a:tr h="1881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비상 의복과 생활필수품의 구입에 소요되는 비용 보상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036397"/>
                  </a:ext>
                </a:extLst>
              </a:tr>
              <a:tr h="1881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위탁수하물 손실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의 경우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100555"/>
                  </a:ext>
                </a:extLst>
              </a:tr>
              <a:tr h="4090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예정된 도착지에 도착 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120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내에 발생한 비상 의복과 생활필수품에 대한 비용비용 보상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115303"/>
                  </a:ext>
                </a:extLst>
              </a:tr>
              <a:tr h="18814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여행중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휴대품 손해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분실제외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 중 발생할 수 있는 상황으로 스토리텔링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캐리어 파손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-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여행중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휴대품 손해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분실제외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 으로 대응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95131" marR="95131" marT="47565" marB="47565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*해당 특약 가입 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가입 금액 한도로 보장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525601"/>
                  </a:ext>
                </a:extLst>
              </a:tr>
              <a:tr h="188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여행중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식중독 보상금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(2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일이상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입원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특약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*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여행중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여권분실 재발급비용 특약의 경우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교통비 및 사진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촬영비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제외 </a:t>
                      </a:r>
                    </a:p>
                  </a:txBody>
                  <a:tcPr marL="95131" marR="95131" marT="47565" marB="47565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328301"/>
                  </a:ext>
                </a:extLst>
              </a:tr>
              <a:tr h="188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여행중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프리젠테이션 4 Regular" pitchFamily="2" charset="-127"/>
                          <a:ea typeface="프리젠테이션 4 Regular" pitchFamily="2" charset="-127"/>
                        </a:rPr>
                        <a:t> 여권분실 재발급비용 특약</a:t>
                      </a:r>
                    </a:p>
                  </a:txBody>
                  <a:tcPr marL="8179" marR="8179" marT="8179" marB="0" anchor="ctr">
                    <a:lnL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446228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B37D67A1-BBFE-CD09-E0FE-1B1AC550DDC2}"/>
              </a:ext>
            </a:extLst>
          </p:cNvPr>
          <p:cNvSpPr/>
          <p:nvPr/>
        </p:nvSpPr>
        <p:spPr>
          <a:xfrm>
            <a:off x="341244" y="5744564"/>
            <a:ext cx="11770242" cy="37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*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동반가입할인과 재가입할인 중복 적용 가능 내용 기입 시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반드시 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동반가입할인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&gt; 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재가입할인 </a:t>
            </a:r>
            <a:r>
              <a:rPr lang="en-US" altLang="ko-KR" sz="1200" dirty="0">
                <a:solidFill>
                  <a:schemeClr val="tx1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&gt; </a:t>
            </a:r>
            <a:r>
              <a:rPr lang="ko-KR" altLang="en-US" sz="1200" dirty="0">
                <a:solidFill>
                  <a:schemeClr val="tx1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중복적용 가능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순으로 기입</a:t>
            </a:r>
            <a:endParaRPr lang="en-US" altLang="ko-KR" sz="12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6E5DCA-DE6D-029C-5DA1-EA5E9A56B5C6}"/>
              </a:ext>
            </a:extLst>
          </p:cNvPr>
          <p:cNvSpPr/>
          <p:nvPr/>
        </p:nvSpPr>
        <p:spPr>
          <a:xfrm>
            <a:off x="7325833" y="2052084"/>
            <a:ext cx="2870790" cy="2126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← ★ 탑승권 청구 가능해진 점 참고 부탁드립니다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36557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0B749-21BA-E391-1A68-9CAA4D71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8D33046B-D2A7-85BB-1A2C-E70E495E20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sz="1100" dirty="0"/>
              <a:t>블로그 원고 </a:t>
            </a:r>
            <a:r>
              <a:rPr lang="en-US" altLang="ko-KR" sz="1100" dirty="0"/>
              <a:t>(</a:t>
            </a:r>
            <a:r>
              <a:rPr lang="ko-KR" altLang="en-US" sz="1100" dirty="0"/>
              <a:t>배포형</a:t>
            </a:r>
            <a:r>
              <a:rPr lang="en-US" altLang="ko-KR" sz="1100" dirty="0"/>
              <a:t>) </a:t>
            </a:r>
            <a:r>
              <a:rPr lang="ko-KR" altLang="en-US" sz="1100" dirty="0"/>
              <a:t>및 자사 블로그 원고 작성 가이드</a:t>
            </a:r>
            <a:endParaRPr lang="en-US" altLang="ko-KR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ED5383-276C-D539-223A-3A1846473FA7}"/>
              </a:ext>
            </a:extLst>
          </p:cNvPr>
          <p:cNvSpPr/>
          <p:nvPr/>
        </p:nvSpPr>
        <p:spPr>
          <a:xfrm>
            <a:off x="341244" y="575739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방향성 참고 사항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_260601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추가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74B57-A9FD-EBBF-3EC3-59791DDF875A}"/>
              </a:ext>
            </a:extLst>
          </p:cNvPr>
          <p:cNvSpPr txBox="1"/>
          <p:nvPr/>
        </p:nvSpPr>
        <p:spPr>
          <a:xfrm>
            <a:off x="341243" y="884891"/>
            <a:ext cx="11509513" cy="1167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네이버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AI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브리핑 요약 탭에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삼성화재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관련 바이럴 콘텐츠들 다수 노출</a:t>
            </a:r>
            <a:endParaRPr lang="en-US" altLang="ko-KR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다만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, ‘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항공기 지연 보상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이라는 특정 영역에서의 점유 높은 편으로 판단하여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해외여행보험 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=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삼성화재</a:t>
            </a:r>
            <a:r>
              <a:rPr lang="en-US" altLang="ko-KR" sz="1200" dirty="0"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라는 인식 확대 형성을 위해 콘텐츠 구조 및 </a:t>
            </a:r>
            <a:r>
              <a:rPr lang="ko-KR" altLang="en-US" sz="1200" dirty="0" err="1">
                <a:latin typeface="프리젠테이션 4 Regular" pitchFamily="2" charset="-127"/>
                <a:ea typeface="프리젠테이션 4 Regular" pitchFamily="2" charset="-127"/>
              </a:rPr>
              <a:t>소구점</a:t>
            </a: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 보강 필요</a:t>
            </a:r>
            <a:endParaRPr lang="en-US" altLang="ko-KR" sz="1200" dirty="0">
              <a:latin typeface="프리젠테이션 4 Regular" pitchFamily="2" charset="-127"/>
              <a:ea typeface="프리젠테이션 4 Regular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프리젠테이션 4 Regular" pitchFamily="2" charset="-127"/>
                <a:ea typeface="프리젠테이션 4 Regular" pitchFamily="2" charset="-127"/>
              </a:rPr>
              <a:t>→ </a:t>
            </a:r>
            <a:r>
              <a:rPr lang="ko-KR" altLang="en-US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이에 따라</a:t>
            </a:r>
            <a:r>
              <a:rPr lang="en-US" altLang="ko-KR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이전 까지 </a:t>
            </a:r>
            <a:r>
              <a:rPr lang="en-US" altLang="ko-KR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‘</a:t>
            </a:r>
            <a:r>
              <a:rPr lang="ko-KR" altLang="en-US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항공기 지연</a:t>
            </a:r>
            <a:r>
              <a:rPr lang="en-US" altLang="ko-KR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담보를 메인 </a:t>
            </a:r>
            <a:r>
              <a:rPr lang="ko-KR" altLang="en-US" sz="1200" dirty="0" err="1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소구점으로</a:t>
            </a:r>
            <a:r>
              <a:rPr lang="ko-KR" altLang="en-US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가져갔다면</a:t>
            </a:r>
            <a:r>
              <a:rPr lang="en-US" altLang="ko-KR" sz="1200" dirty="0"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sz="1200" dirty="0"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금월엔 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다이렉트 상품의 저렴함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간편성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편리한 보상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&amp;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할인 혜택 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&amp; 24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시간 대응 편의성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*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dirty="0"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을 핵심 </a:t>
            </a:r>
            <a:r>
              <a:rPr lang="ko-KR" altLang="en-US" sz="1200" dirty="0" err="1"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소구점으로</a:t>
            </a:r>
            <a:r>
              <a:rPr lang="ko-KR" altLang="en-US" sz="1200" dirty="0">
                <a:highlight>
                  <a:srgbClr val="FFFF00"/>
                </a:highlight>
                <a:latin typeface="프리젠테이션 6 SemiBold" pitchFamily="2" charset="-127"/>
                <a:ea typeface="프리젠테이션 6 SemiBold" pitchFamily="2" charset="-127"/>
              </a:rPr>
              <a:t> 원고 내 반영 필요</a:t>
            </a:r>
            <a:endParaRPr lang="en-US" altLang="ko-KR" sz="1200" dirty="0">
              <a:highlight>
                <a:srgbClr val="FFFF00"/>
              </a:highlight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*</a:t>
            </a:r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혜택 내용 </a:t>
            </a: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: p3 [</a:t>
            </a:r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기타 혜택</a:t>
            </a: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] </a:t>
            </a:r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내용 참고 </a:t>
            </a:r>
            <a:endParaRPr lang="ko-KR" altLang="en-US" sz="12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2301B1-83ED-D7B8-4FB3-1078A48F6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991" y="2534440"/>
            <a:ext cx="1468942" cy="282845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545A57F-2FAF-472A-F86E-F7F3E2CCD1B7}"/>
              </a:ext>
            </a:extLst>
          </p:cNvPr>
          <p:cNvSpPr/>
          <p:nvPr/>
        </p:nvSpPr>
        <p:spPr>
          <a:xfrm>
            <a:off x="2071992" y="3671410"/>
            <a:ext cx="1468942" cy="11374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ECE472B-4E89-F748-5F36-4C89735D4006}"/>
              </a:ext>
            </a:extLst>
          </p:cNvPr>
          <p:cNvCxnSpPr/>
          <p:nvPr/>
        </p:nvCxnSpPr>
        <p:spPr>
          <a:xfrm flipH="1">
            <a:off x="1541776" y="4047844"/>
            <a:ext cx="566057" cy="3846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CDBD9D-235C-44E3-B2D9-022CF0376363}"/>
              </a:ext>
            </a:extLst>
          </p:cNvPr>
          <p:cNvSpPr txBox="1"/>
          <p:nvPr/>
        </p:nvSpPr>
        <p:spPr>
          <a:xfrm>
            <a:off x="216298" y="4454204"/>
            <a:ext cx="2529371" cy="255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프리젠테이션 4 Regular" pitchFamily="2" charset="-127"/>
                <a:ea typeface="프리젠테이션 4 Regular" pitchFamily="2" charset="-127"/>
              </a:rPr>
              <a:t>디렉티브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 진행 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(3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월 배포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):’</a:t>
            </a:r>
            <a:r>
              <a:rPr lang="ko-KR" altLang="en-US" sz="800" dirty="0" err="1">
                <a:latin typeface="프리젠테이션 4 Regular" pitchFamily="2" charset="-127"/>
                <a:ea typeface="프리젠테이션 4 Regular" pitchFamily="2" charset="-127"/>
              </a:rPr>
              <a:t>방랑자워니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’ 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발행 원고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616214B-6402-EFAA-B913-7427E2406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855" y="2100719"/>
            <a:ext cx="4516261" cy="4695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D29902-0B64-43CF-A87B-C64A054E63B1}"/>
              </a:ext>
            </a:extLst>
          </p:cNvPr>
          <p:cNvSpPr txBox="1"/>
          <p:nvPr/>
        </p:nvSpPr>
        <p:spPr>
          <a:xfrm>
            <a:off x="341243" y="2044917"/>
            <a:ext cx="11509513" cy="31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노출 현황</a:t>
            </a: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]</a:t>
            </a:r>
            <a:endParaRPr lang="ko-KR" altLang="en-US" sz="12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94341BA-0B82-EB32-88A1-8CEA74CF0EA2}"/>
              </a:ext>
            </a:extLst>
          </p:cNvPr>
          <p:cNvCxnSpPr>
            <a:cxnSpLocks/>
          </p:cNvCxnSpPr>
          <p:nvPr/>
        </p:nvCxnSpPr>
        <p:spPr>
          <a:xfrm>
            <a:off x="9273250" y="3451238"/>
            <a:ext cx="1437766" cy="57483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565822-5FAA-BFE2-C333-F4B7CA626996}"/>
              </a:ext>
            </a:extLst>
          </p:cNvPr>
          <p:cNvSpPr txBox="1"/>
          <p:nvPr/>
        </p:nvSpPr>
        <p:spPr>
          <a:xfrm>
            <a:off x="9385538" y="4047804"/>
            <a:ext cx="2529371" cy="255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 err="1">
                <a:latin typeface="프리젠테이션 4 Regular" pitchFamily="2" charset="-127"/>
                <a:ea typeface="프리젠테이션 4 Regular" pitchFamily="2" charset="-127"/>
              </a:rPr>
              <a:t>디렉티브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 진행 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: ‘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현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’ ‘</a:t>
            </a:r>
            <a:r>
              <a:rPr lang="ko-KR" altLang="en-US" sz="800" dirty="0" err="1">
                <a:latin typeface="프리젠테이션 4 Regular" pitchFamily="2" charset="-127"/>
                <a:ea typeface="프리젠테이션 4 Regular" pitchFamily="2" charset="-127"/>
              </a:rPr>
              <a:t>요치요치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‘ ‘ 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원희</a:t>
            </a:r>
            <a:r>
              <a:rPr lang="en-US" altLang="ko-KR" sz="800" dirty="0">
                <a:latin typeface="프리젠테이션 4 Regular" pitchFamily="2" charset="-127"/>
                <a:ea typeface="프리젠테이션 4 Regular" pitchFamily="2" charset="-127"/>
              </a:rPr>
              <a:t>‘ </a:t>
            </a:r>
            <a:r>
              <a:rPr lang="ko-KR" altLang="en-US" sz="800" dirty="0">
                <a:latin typeface="프리젠테이션 4 Regular" pitchFamily="2" charset="-127"/>
                <a:ea typeface="프리젠테이션 4 Regular" pitchFamily="2" charset="-127"/>
              </a:rPr>
              <a:t>등 다수 블로거 원고 노출 확인</a:t>
            </a:r>
          </a:p>
        </p:txBody>
      </p:sp>
    </p:spTree>
    <p:extLst>
      <p:ext uri="{BB962C8B-B14F-4D97-AF65-F5344CB8AC3E}">
        <p14:creationId xmlns:p14="http://schemas.microsoft.com/office/powerpoint/2010/main" val="357900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B011-4FCC-D11A-0BBD-0D026D02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70928B1-FBFB-3B61-F171-2194E111D2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609060-4113-F7B1-5388-031EFDF60405}"/>
              </a:ext>
            </a:extLst>
          </p:cNvPr>
          <p:cNvSpPr/>
          <p:nvPr/>
        </p:nvSpPr>
        <p:spPr>
          <a:xfrm>
            <a:off x="341244" y="728642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원고 작성 예시 플로우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759F8F-BFD5-1BA8-FBCC-73D2EC96BF7C}"/>
              </a:ext>
            </a:extLst>
          </p:cNvPr>
          <p:cNvSpPr txBox="1"/>
          <p:nvPr/>
        </p:nvSpPr>
        <p:spPr>
          <a:xfrm>
            <a:off x="6281300" y="1037794"/>
            <a:ext cx="5569457" cy="377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[</a:t>
            </a:r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예시</a:t>
            </a:r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] 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B3EAE3-5ACD-590C-E604-3505FD174138}"/>
              </a:ext>
            </a:extLst>
          </p:cNvPr>
          <p:cNvSpPr/>
          <p:nvPr/>
        </p:nvSpPr>
        <p:spPr>
          <a:xfrm>
            <a:off x="341244" y="1523409"/>
            <a:ext cx="5910700" cy="37747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</a:rPr>
              <a:t>제목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96EDF3-D79E-1D3D-D4FA-736220C29BDF}"/>
              </a:ext>
            </a:extLst>
          </p:cNvPr>
          <p:cNvSpPr/>
          <p:nvPr/>
        </p:nvSpPr>
        <p:spPr>
          <a:xfrm>
            <a:off x="341244" y="2009024"/>
            <a:ext cx="5910700" cy="2557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유료광고 문안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63A42C-8D1B-BCEF-7FF3-563EBAD05AA6}"/>
              </a:ext>
            </a:extLst>
          </p:cNvPr>
          <p:cNvSpPr/>
          <p:nvPr/>
        </p:nvSpPr>
        <p:spPr>
          <a:xfrm>
            <a:off x="341244" y="2372874"/>
            <a:ext cx="5910700" cy="2557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이미지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1DDBE9-ED9E-B7E4-A53D-68281D179D24}"/>
              </a:ext>
            </a:extLst>
          </p:cNvPr>
          <p:cNvSpPr/>
          <p:nvPr/>
        </p:nvSpPr>
        <p:spPr>
          <a:xfrm>
            <a:off x="341244" y="2736724"/>
            <a:ext cx="5910700" cy="15468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특약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 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소개 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해당 특약 필요한 상황과 함께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소구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시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Best)</a:t>
            </a:r>
          </a:p>
          <a:p>
            <a:pPr algn="ctr"/>
            <a:endParaRPr lang="en-US" altLang="ko-KR" sz="14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★ 내용에 특약 내용 및 보장 언급 시</a:t>
            </a:r>
            <a:r>
              <a:rPr lang="en-US" altLang="ko-KR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</a:t>
            </a:r>
          </a:p>
          <a:p>
            <a:pPr algn="ctr"/>
            <a:r>
              <a:rPr lang="ko-KR" altLang="en-US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하단에 우측 색인 문장처럼 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*(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정확한 </a:t>
            </a:r>
            <a:r>
              <a:rPr lang="ko-KR" altLang="en-US" sz="1400" dirty="0" err="1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담보명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특약 가입시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가입 금액 한도로 보장 </a:t>
            </a:r>
            <a:r>
              <a:rPr lang="ko-KR" altLang="en-US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문장 추가 必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8AF9D5A-E5A5-9A32-A39E-BA00A3830751}"/>
              </a:ext>
            </a:extLst>
          </p:cNvPr>
          <p:cNvSpPr/>
          <p:nvPr/>
        </p:nvSpPr>
        <p:spPr>
          <a:xfrm>
            <a:off x="341244" y="4972533"/>
            <a:ext cx="5910700" cy="4727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특약 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2 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소개 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해당 특약 필요한 상황과 함께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소구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시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Best)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2B6C04-3E99-3328-17F3-FEF1498F8945}"/>
              </a:ext>
            </a:extLst>
          </p:cNvPr>
          <p:cNvSpPr/>
          <p:nvPr/>
        </p:nvSpPr>
        <p:spPr>
          <a:xfrm>
            <a:off x="341244" y="4391682"/>
            <a:ext cx="5910700" cy="4727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0C6370-444E-565F-6402-20601BAB7F80}"/>
              </a:ext>
            </a:extLst>
          </p:cNvPr>
          <p:cNvSpPr/>
          <p:nvPr/>
        </p:nvSpPr>
        <p:spPr>
          <a:xfrm>
            <a:off x="341244" y="5553384"/>
            <a:ext cx="5910700" cy="5759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고지문구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CE0C1B-3A2E-D15F-DC15-D86D2E068972}"/>
              </a:ext>
            </a:extLst>
          </p:cNvPr>
          <p:cNvSpPr/>
          <p:nvPr/>
        </p:nvSpPr>
        <p:spPr>
          <a:xfrm>
            <a:off x="341244" y="6237496"/>
            <a:ext cx="5910700" cy="4037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해시태그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00FA5D-7F93-9F4A-5390-F1BB46E1F4DC}"/>
              </a:ext>
            </a:extLst>
          </p:cNvPr>
          <p:cNvSpPr/>
          <p:nvPr/>
        </p:nvSpPr>
        <p:spPr>
          <a:xfrm>
            <a:off x="6281300" y="1523409"/>
            <a:ext cx="5569456" cy="37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삼성화재 다이렉트 해외여행보험 출국 귀국 항공기 지연 보상 일본 여행자보험 추천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지수형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특약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endParaRPr lang="ko-KR" altLang="en-US" sz="12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F8A068-2A8A-9227-D125-C412284947DE}"/>
              </a:ext>
            </a:extLst>
          </p:cNvPr>
          <p:cNvSpPr/>
          <p:nvPr/>
        </p:nvSpPr>
        <p:spPr>
          <a:xfrm>
            <a:off x="6281300" y="1948141"/>
            <a:ext cx="5569456" cy="37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*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이 포스팅은 삼성화재 </a:t>
            </a:r>
            <a:r>
              <a:rPr lang="ko-KR" altLang="en-US" sz="12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다이렉트로부터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소정의 </a:t>
            </a:r>
            <a:r>
              <a:rPr lang="ko-KR" altLang="en-US" sz="1200" dirty="0" err="1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공고비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원고료</a:t>
            </a:r>
            <a:r>
              <a:rPr lang="en-US" altLang="ko-KR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12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를 받아 작성되었습니다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1FC596-D815-2D7F-765B-073003C6C9D7}"/>
              </a:ext>
            </a:extLst>
          </p:cNvPr>
          <p:cNvSpPr/>
          <p:nvPr/>
        </p:nvSpPr>
        <p:spPr>
          <a:xfrm>
            <a:off x="6281300" y="2369886"/>
            <a:ext cx="5569456" cy="255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이미지는 텍스트 사이 사이 자유롭게 배치 필요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71A4BB-C852-1531-C632-C25DF28DFB0E}"/>
              </a:ext>
            </a:extLst>
          </p:cNvPr>
          <p:cNvSpPr/>
          <p:nvPr/>
        </p:nvSpPr>
        <p:spPr>
          <a:xfrm>
            <a:off x="6281300" y="4391682"/>
            <a:ext cx="5569456" cy="37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이미지는 텍스트 사이 사이 자유롭게 배치 필요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8E4B5A-D2DA-BB2A-CF0C-2599CC5B6408}"/>
              </a:ext>
            </a:extLst>
          </p:cNvPr>
          <p:cNvSpPr/>
          <p:nvPr/>
        </p:nvSpPr>
        <p:spPr>
          <a:xfrm>
            <a:off x="6393542" y="2817919"/>
            <a:ext cx="5798457" cy="1384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오랜만의 일본여행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!</a:t>
            </a:r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설레는 마음으로 공항 도착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하지만 예상치 못한 항공기 지연에 당황할 때가 있다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이럴 때를 대비해 미리 들어두면 좋은 여행자보험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!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특히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삼성화재 다이렉트 해외여행보험의 </a:t>
            </a:r>
            <a:r>
              <a:rPr lang="ko-KR" altLang="en-US" sz="11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출국</a:t>
            </a:r>
            <a:r>
              <a:rPr lang="en-US" altLang="ko-KR" sz="11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귀국 항공기 지연 결항을 지수형</a:t>
            </a:r>
            <a:r>
              <a:rPr lang="ko-KR" altLang="en-US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으로 보장해 주는 특약으로 대비 </a:t>
            </a:r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~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…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항공기 지연 결항 보상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지수형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국내 출국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특약 가입 시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가입 금액 한도로 보장</a:t>
            </a:r>
            <a:endParaRPr lang="en-US" altLang="ko-KR" sz="1100" dirty="0">
              <a:solidFill>
                <a:srgbClr val="FF0000"/>
              </a:solidFill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항공기 지연 결항 보상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지수형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)(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국내 출국 제외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특약 가입 시</a:t>
            </a:r>
            <a:r>
              <a:rPr lang="en-US" altLang="ko-KR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가입 금액 한도로 보장</a:t>
            </a:r>
            <a:endParaRPr lang="en-US" altLang="ko-KR" sz="1100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/>
            <a:endParaRPr lang="ko-KR" altLang="en-US" sz="11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FB3700C-70A3-9891-2592-CF2548807892}"/>
              </a:ext>
            </a:extLst>
          </p:cNvPr>
          <p:cNvSpPr/>
          <p:nvPr/>
        </p:nvSpPr>
        <p:spPr>
          <a:xfrm>
            <a:off x="6281300" y="5445244"/>
            <a:ext cx="5569456" cy="752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 보험계약은 예금자보호법에 따라 해약환급금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또는 만기 시 보험금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에 기타지급금을 합한 금액이 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인당 “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억원까지”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본 보험회사의 여타 보호상품과 합산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보호됩니다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이와 별도로 본 보험회사 보호상품의 사고보험금을 합산한 금액이 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인당 “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억원까지” 보호됩니다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다만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보험계약자 및 보험료 납부자가 법인인 보험계약의 경우에는 보호되지 않습니다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보험계약자가 기존에 체결했던 보험계약을 해지하고 다른 보험계약을 체결하면 보험 인수가 거절되거나 보험료가 인상되거나 보장내용이 달라질 수 있습니다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또한 지급한도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면책사항 등에 따라 보험금 지급이 제한될 수 있습니다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 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보험계약 체결 전 상품설명서 및 약관을 읽어 보시기 바랍니다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. </a:t>
            </a:r>
            <a:r>
              <a:rPr lang="ko-KR" altLang="en-US" sz="7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준법감시인확인필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제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00-0-0000</a:t>
            </a:r>
            <a:r>
              <a:rPr lang="ko-KR" altLang="en-US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호 </a:t>
            </a:r>
            <a:r>
              <a:rPr lang="en-US" altLang="ko-KR" sz="7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(4078,'20.00.00~'20.00.00)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E206E0-40A3-6219-8F36-973517B70968}"/>
              </a:ext>
            </a:extLst>
          </p:cNvPr>
          <p:cNvSpPr/>
          <p:nvPr/>
        </p:nvSpPr>
        <p:spPr>
          <a:xfrm>
            <a:off x="6281300" y="5010713"/>
            <a:ext cx="5569456" cy="377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특약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1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예시와 유사하게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상황 </a:t>
            </a:r>
            <a:r>
              <a:rPr lang="ko-KR" altLang="en-US" sz="12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소구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+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하단에 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‘~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특약 가입시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가입 금액 한도로 보장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기입 필수</a:t>
            </a:r>
            <a:r>
              <a:rPr lang="en-US" altLang="ko-KR" sz="12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F7FC3C-7786-1943-8A08-A2702054B2EC}"/>
              </a:ext>
            </a:extLst>
          </p:cNvPr>
          <p:cNvSpPr/>
          <p:nvPr/>
        </p:nvSpPr>
        <p:spPr>
          <a:xfrm>
            <a:off x="6281300" y="6220321"/>
            <a:ext cx="5569456" cy="403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삼성화재다이렉트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 err="1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삼성화재다이렉트해외여행보험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해외여행보험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항공지연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지연결항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해외여행자보험 </a:t>
            </a:r>
            <a:endParaRPr lang="en-US" altLang="ko-KR" sz="10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해외여행보험추천 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#</a:t>
            </a:r>
            <a:r>
              <a:rPr lang="ko-KR" altLang="en-US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해외여행보험후기</a:t>
            </a:r>
            <a:r>
              <a:rPr lang="en-US" altLang="ko-KR" sz="10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…</a:t>
            </a:r>
            <a:endParaRPr lang="en-US" altLang="ko-KR" sz="900" dirty="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05DD01-AF51-2CC1-242A-B0764193A822}"/>
              </a:ext>
            </a:extLst>
          </p:cNvPr>
          <p:cNvSpPr/>
          <p:nvPr/>
        </p:nvSpPr>
        <p:spPr>
          <a:xfrm>
            <a:off x="341244" y="1122487"/>
            <a:ext cx="6421064" cy="309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★ </a:t>
            </a:r>
            <a:r>
              <a:rPr lang="en-US" altLang="ko-KR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!!! </a:t>
            </a:r>
            <a:r>
              <a:rPr lang="ko-KR" altLang="en-US" sz="16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이미지 또는 원고 내 보험료 금액 기재 불가</a:t>
            </a:r>
          </a:p>
        </p:txBody>
      </p:sp>
    </p:spTree>
    <p:extLst>
      <p:ext uri="{BB962C8B-B14F-4D97-AF65-F5344CB8AC3E}">
        <p14:creationId xmlns:p14="http://schemas.microsoft.com/office/powerpoint/2010/main" val="3240081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D511-0D79-070F-42E8-570AD03C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A6D0AC22-582F-14F4-1671-0B7DE562CF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1C567C-62A9-8D83-F51D-C11EF36F4AEE}"/>
              </a:ext>
            </a:extLst>
          </p:cNvPr>
          <p:cNvSpPr/>
          <p:nvPr/>
        </p:nvSpPr>
        <p:spPr>
          <a:xfrm>
            <a:off x="341244" y="728642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표현 불가 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문구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6327AD-FAC3-6A7C-5C34-5E54704F7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078495"/>
              </p:ext>
            </p:extLst>
          </p:nvPr>
        </p:nvGraphicFramePr>
        <p:xfrm>
          <a:off x="341243" y="1190697"/>
          <a:ext cx="11509513" cy="547984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8041">
                  <a:extLst>
                    <a:ext uri="{9D8B030D-6E8A-4147-A177-3AD203B41FA5}">
                      <a16:colId xmlns:a16="http://schemas.microsoft.com/office/drawing/2014/main" val="3851403481"/>
                    </a:ext>
                  </a:extLst>
                </a:gridCol>
                <a:gridCol w="4260479">
                  <a:extLst>
                    <a:ext uri="{9D8B030D-6E8A-4147-A177-3AD203B41FA5}">
                      <a16:colId xmlns:a16="http://schemas.microsoft.com/office/drawing/2014/main" val="1418540663"/>
                    </a:ext>
                  </a:extLst>
                </a:gridCol>
                <a:gridCol w="5080993">
                  <a:extLst>
                    <a:ext uri="{9D8B030D-6E8A-4147-A177-3AD203B41FA5}">
                      <a16:colId xmlns:a16="http://schemas.microsoft.com/office/drawing/2014/main" val="1196101172"/>
                    </a:ext>
                  </a:extLst>
                </a:gridCol>
              </a:tblGrid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불가 표현</a:t>
                      </a:r>
                      <a:endParaRPr lang="en-US" altLang="ko-KR" sz="1300" b="0" dirty="0">
                        <a:latin typeface="프리젠테이션 6 SemiBold" pitchFamily="2" charset="-127"/>
                        <a:ea typeface="프리젠테이션 6 SemiBold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사유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dirty="0">
                          <a:latin typeface="프리젠테이션 6 SemiBold" pitchFamily="2" charset="-127"/>
                          <a:ea typeface="프리젠테이션 6 SemiBold" pitchFamily="2" charset="-127"/>
                        </a:rPr>
                        <a:t>예시</a:t>
                      </a: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2337627185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시간 낭비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＇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485379033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전부 보장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보장 범위 포괄하는 표현 사용 불가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이렇게 설정해야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공항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이동 중 사고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귀국 이동 중 삭고 전부 보장됩니다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.’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2826957778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이렇게 설정해야 보장됩니다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보험금을 받기 위해 설정하는 듯한 문구 사용 불가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이렇게 설정해야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공항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이동 중 사고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귀국 이동 중 삭고 전부 보장됩니다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.’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4172057508"/>
                  </a:ext>
                </a:extLst>
              </a:tr>
              <a:tr h="394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부터 </a:t>
                      </a:r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까지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현지에서 발생할 수 있는 추가비용 부담까지 함께 고려했습니다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</a:p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출국시는 물론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귀국 항공편 지연까지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4251149445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발생하는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발생에 대한 객관적인 근거 없음 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(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대체 가능 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: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발생할 수 있는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)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특히 정말 빈번하게 발생하는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항공기 지연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~’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1206732892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빈번하게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자주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빈도에 대한 객관적인 근거 없음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특히 정말 빈번하게 발생하는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항공기 지연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~’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1337606153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증빙서류 많음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증빙서류 많다는 객관적인 기준 없음 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실손형의 경우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영수증 등 청구에 필요한 증빙서류가 많다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3866041245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훨씬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같은 지연이라도 지수형이 훨씬 간단하게 보장 받습니다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3054021060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무조건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그래서 저희 해외질병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~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무조건 최대 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5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천으로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＇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2034646981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걱정 없이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1551257455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더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저렴한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무조건 저렴한 것처럼 오인 소지 있음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(*’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다이렉트라서 저렴한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＇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은 표현 가능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)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더 저렴한 삼성화재 다이렉트 해외여행보험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3818973550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커피 </a:t>
                      </a:r>
                      <a:r>
                        <a:rPr lang="ko-KR" altLang="en-US" sz="13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두잔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값을 보장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솔직히 커피 </a:t>
                      </a:r>
                      <a:r>
                        <a:rPr lang="ko-KR" altLang="en-US" sz="13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두잔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값으로 안전을 보장받을 수 있다니 안 할 이유가 전혀 없죠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＇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3033803738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보험료 금액 기재 불가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이미지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텍스트 내 보험료 기재 불가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‘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삼성화재 다이렉트 여행자보험 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4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박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6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일 </a:t>
                      </a:r>
                      <a:r>
                        <a:rPr lang="ko-KR" altLang="en-US" sz="1300" dirty="0" err="1">
                          <a:latin typeface="프리젠테이션 4 Regular" pitchFamily="2" charset="-127"/>
                          <a:ea typeface="프리젠테이션 4 Regular" pitchFamily="2" charset="-127"/>
                        </a:rPr>
                        <a:t>보혐료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7,700</a:t>
                      </a:r>
                      <a:r>
                        <a:rPr lang="ko-KR" altLang="en-US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원 나왔습니다</a:t>
                      </a:r>
                      <a:r>
                        <a:rPr lang="en-US" altLang="ko-KR" sz="1300" dirty="0">
                          <a:latin typeface="프리젠테이션 4 Regular" pitchFamily="2" charset="-127"/>
                          <a:ea typeface="프리젠테이션 4 Regular" pitchFamily="2" charset="-127"/>
                        </a:rPr>
                        <a:t>.’</a:t>
                      </a:r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1850752952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출국 항공기 지연 손해 특약 제외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다이렉트 플랜에서 보장하는 특약 아님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413528654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모두</a:t>
                      </a:r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endParaRPr lang="ko-KR" altLang="en-US" sz="1300" dirty="0">
                        <a:highlight>
                          <a:srgbClr val="FFFF00"/>
                        </a:highlight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3468516493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뿐만 아니라 </a:t>
                      </a:r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도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596431947"/>
                  </a:ext>
                </a:extLst>
              </a:tr>
              <a:tr h="2952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는 물론 </a:t>
                      </a:r>
                      <a:r>
                        <a:rPr lang="en-US" altLang="ko-KR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~</a:t>
                      </a: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도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>
                          <a:highlight>
                            <a:srgbClr val="FFFF00"/>
                          </a:highlight>
                          <a:latin typeface="프리젠테이션 4 Regular" pitchFamily="2" charset="-127"/>
                          <a:ea typeface="프리젠테이션 4 Regular" pitchFamily="2" charset="-127"/>
                        </a:rPr>
                        <a:t>해당 표현 삭제 필요</a:t>
                      </a:r>
                    </a:p>
                  </a:txBody>
                  <a:tcPr marL="64276" marR="64276" marT="32137" marB="32137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 marL="64276" marR="64276" marT="32137" marB="32137"/>
                </a:tc>
                <a:extLst>
                  <a:ext uri="{0D108BD9-81ED-4DB2-BD59-A6C34878D82A}">
                    <a16:rowId xmlns:a16="http://schemas.microsoft.com/office/drawing/2014/main" val="9929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016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3B14C-F14F-AB88-E201-FA792A2F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246CCE78-1714-0A8B-0F19-CC095F6238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951CCC-777A-DAC4-EF63-C2EF3C9E7643}"/>
              </a:ext>
            </a:extLst>
          </p:cNvPr>
          <p:cNvSpPr/>
          <p:nvPr/>
        </p:nvSpPr>
        <p:spPr>
          <a:xfrm>
            <a:off x="341244" y="4684389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레퍼런스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556071-2D61-6A29-F7F5-F52B2D20AFA2}"/>
              </a:ext>
            </a:extLst>
          </p:cNvPr>
          <p:cNvSpPr txBox="1"/>
          <p:nvPr/>
        </p:nvSpPr>
        <p:spPr>
          <a:xfrm>
            <a:off x="341244" y="5059916"/>
            <a:ext cx="81724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  <a:hlinkClick r:id="rId3"/>
              </a:rPr>
              <a:t>해외여행보험 가입 중국 여행 준비물 카카오페이손해보험 해외여행자보험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6B589-3DE3-A2E3-72E3-D3D38FA591B8}"/>
              </a:ext>
            </a:extLst>
          </p:cNvPr>
          <p:cNvSpPr txBox="1"/>
          <p:nvPr/>
        </p:nvSpPr>
        <p:spPr>
          <a:xfrm>
            <a:off x="341244" y="5397485"/>
            <a:ext cx="81724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프리젠테이션 4 Regular" pitchFamily="2" charset="-127"/>
                <a:ea typeface="프리젠테이션 4 Regular" pitchFamily="2" charset="-127"/>
                <a:hlinkClick r:id="rId4"/>
              </a:rPr>
              <a:t>여행인플루언서</a:t>
            </a:r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  <a:hlinkClick r:id="rId4"/>
              </a:rPr>
              <a:t> 해외여행자보험 추천 카카오페이손해보험 간편가입방법</a:t>
            </a:r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  <a:hlinkClick r:id="rId4"/>
              </a:rPr>
              <a:t>, </a:t>
            </a:r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  <a:hlinkClick r:id="rId4"/>
              </a:rPr>
              <a:t>후기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1569E8-2713-1546-D113-D9A3125A6E5B}"/>
              </a:ext>
            </a:extLst>
          </p:cNvPr>
          <p:cNvSpPr txBox="1"/>
          <p:nvPr/>
        </p:nvSpPr>
        <p:spPr>
          <a:xfrm>
            <a:off x="341243" y="5761699"/>
            <a:ext cx="81724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*</a:t>
            </a:r>
            <a:r>
              <a:rPr lang="ko-KR" altLang="en-US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해당 콘텐츠는 심의 영역 아니기 때문에 원고 작성 플로우만 참고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E529B2-1F2F-8F32-4BE2-3FF0EDD9A78A}"/>
              </a:ext>
            </a:extLst>
          </p:cNvPr>
          <p:cNvSpPr/>
          <p:nvPr/>
        </p:nvSpPr>
        <p:spPr>
          <a:xfrm>
            <a:off x="341244" y="788524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해외여행보험 약관 확인 必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96EC61-E6FF-5D83-B9E2-54254942B7FD}"/>
              </a:ext>
            </a:extLst>
          </p:cNvPr>
          <p:cNvSpPr/>
          <p:nvPr/>
        </p:nvSpPr>
        <p:spPr>
          <a:xfrm>
            <a:off x="341244" y="1188336"/>
            <a:ext cx="11509513" cy="309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5"/>
              </a:rPr>
              <a:t>삼성화재 다이렉트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5"/>
              </a:rPr>
              <a:t>공시실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E50500-27BD-8CFC-B049-0247186F265A}"/>
              </a:ext>
            </a:extLst>
          </p:cNvPr>
          <p:cNvSpPr/>
          <p:nvPr/>
        </p:nvSpPr>
        <p:spPr>
          <a:xfrm>
            <a:off x="341244" y="1525905"/>
            <a:ext cx="6143276" cy="309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상품명에 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‘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해외여행보험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’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검색 →  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‘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해외여행보험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’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의 보험약관 클릭 </a:t>
            </a:r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6F9A69-1373-25A4-618C-AF008A6FE1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3" y="2114838"/>
            <a:ext cx="3126668" cy="2107761"/>
          </a:xfrm>
          <a:prstGeom prst="rect">
            <a:avLst/>
          </a:prstGeom>
        </p:spPr>
      </p:pic>
      <p:pic>
        <p:nvPicPr>
          <p:cNvPr id="13" name="그림 1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27B33-E051-A713-C710-A0033B2699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881" y="2114837"/>
            <a:ext cx="2884639" cy="2107761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DF75E33F-AFFA-AB9F-60A3-619DFB0794BC}"/>
              </a:ext>
            </a:extLst>
          </p:cNvPr>
          <p:cNvGrpSpPr/>
          <p:nvPr/>
        </p:nvGrpSpPr>
        <p:grpSpPr>
          <a:xfrm>
            <a:off x="6782231" y="2123016"/>
            <a:ext cx="2712643" cy="2099582"/>
            <a:chOff x="2054279" y="465274"/>
            <a:chExt cx="8860482" cy="6858000"/>
          </a:xfrm>
        </p:grpSpPr>
        <p:pic>
          <p:nvPicPr>
            <p:cNvPr id="15" name="그림 14" descr="텍스트, 스크린샷, 소프트웨어, 웹 페이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50FD5BA-7318-31E4-CE4A-4EF17B658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4279" y="465274"/>
              <a:ext cx="8860482" cy="6858000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4C0A5A3-58F8-D3AF-5138-1E3C69B2B4B5}"/>
                </a:ext>
              </a:extLst>
            </p:cNvPr>
            <p:cNvSpPr/>
            <p:nvPr/>
          </p:nvSpPr>
          <p:spPr>
            <a:xfrm>
              <a:off x="2105249" y="991012"/>
              <a:ext cx="6103088" cy="2185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8FA166-782E-CDBC-DF3A-32017B1A9B30}"/>
              </a:ext>
            </a:extLst>
          </p:cNvPr>
          <p:cNvSpPr/>
          <p:nvPr/>
        </p:nvSpPr>
        <p:spPr>
          <a:xfrm>
            <a:off x="6782231" y="1525905"/>
            <a:ext cx="2712643" cy="3091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Ctrl+Alt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로 확인 필요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약관명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검색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2E5563-8980-0D31-0E8C-ED72AB2A292F}"/>
              </a:ext>
            </a:extLst>
          </p:cNvPr>
          <p:cNvSpPr/>
          <p:nvPr/>
        </p:nvSpPr>
        <p:spPr>
          <a:xfrm>
            <a:off x="9494874" y="2950571"/>
            <a:ext cx="2712643" cy="696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약관 내 해당 페이지 상단 영역에서 확인되는</a:t>
            </a:r>
            <a:endParaRPr lang="en-US" altLang="ko-KR" sz="11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약관명이 </a:t>
            </a:r>
            <a:r>
              <a:rPr lang="en-US" altLang="ko-KR" sz="11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“</a:t>
            </a:r>
            <a:r>
              <a:rPr lang="ko-KR" altLang="en-US" sz="11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정확한 </a:t>
            </a:r>
            <a:r>
              <a:rPr lang="ko-KR" altLang="en-US" sz="1100" dirty="0" err="1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약관명</a:t>
            </a:r>
            <a:r>
              <a:rPr lang="en-US" altLang="ko-KR" sz="11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“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→ 해당 명칭 그대로 기입 필요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C7DE824-186B-CB40-E945-2C84CE2D7405}"/>
              </a:ext>
            </a:extLst>
          </p:cNvPr>
          <p:cNvCxnSpPr>
            <a:cxnSpLocks/>
          </p:cNvCxnSpPr>
          <p:nvPr/>
        </p:nvCxnSpPr>
        <p:spPr>
          <a:xfrm flipV="1">
            <a:off x="8016949" y="3288140"/>
            <a:ext cx="1786270" cy="504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0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49A7-B5E9-1439-6962-FABCBFEE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6AB592D-3650-8622-0D10-309199141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4" y="2280730"/>
            <a:ext cx="3371135" cy="21738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5DB0B33-64B8-3CBF-258E-2C178487A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6951" y="2147223"/>
            <a:ext cx="1064543" cy="2307337"/>
          </a:xfrm>
          <a:prstGeom prst="rect">
            <a:avLst/>
          </a:prstGeom>
        </p:spPr>
      </p:pic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5991DDAB-B0F1-577A-77E9-A230F72BF7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B270C13-D833-C87A-6620-CA8C009CFE05}"/>
              </a:ext>
            </a:extLst>
          </p:cNvPr>
          <p:cNvSpPr/>
          <p:nvPr/>
        </p:nvSpPr>
        <p:spPr>
          <a:xfrm>
            <a:off x="341244" y="788524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추가 특이사항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AC3CD7-96FA-D62F-8C14-953737DCAA20}"/>
              </a:ext>
            </a:extLst>
          </p:cNvPr>
          <p:cNvSpPr/>
          <p:nvPr/>
        </p:nvSpPr>
        <p:spPr>
          <a:xfrm>
            <a:off x="427645" y="5034578"/>
            <a:ext cx="7054594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[PC]</a:t>
            </a:r>
            <a:endParaRPr lang="ko-KR" altLang="en-US" sz="14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9ECBCF-FFD3-64FF-4061-9152A4B00155}"/>
              </a:ext>
            </a:extLst>
          </p:cNvPr>
          <p:cNvSpPr/>
          <p:nvPr/>
        </p:nvSpPr>
        <p:spPr>
          <a:xfrm>
            <a:off x="341243" y="1523246"/>
            <a:ext cx="11509513" cy="571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블로그 원고에 캡쳐 이미지 삽입 시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하기 내용 확인 필요</a:t>
            </a:r>
            <a:endParaRPr lang="en-US" altLang="ko-KR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MO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사용 불가 이미지 유의</a:t>
            </a:r>
            <a:endParaRPr lang="en-US" altLang="ko-KR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‘</a:t>
            </a:r>
            <a:r>
              <a:rPr lang="ko-KR" altLang="en-US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청년도약할인</a:t>
            </a:r>
            <a:r>
              <a:rPr lang="en-US" altLang="ko-KR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‘ </a:t>
            </a:r>
            <a:r>
              <a:rPr lang="ko-KR" altLang="en-US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내용 제외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된 버전의 상품페이지로 삽입 필요</a:t>
            </a:r>
          </a:p>
        </p:txBody>
      </p:sp>
      <p:pic>
        <p:nvPicPr>
          <p:cNvPr id="21" name="그림 20" descr="텍스트, 스크린샷, 온라인 광고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1148E7-60E6-C85B-687C-A205B223D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980" y="2121388"/>
            <a:ext cx="1225606" cy="233317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A003B8E-1700-D8FC-C9AD-69F28C92EC5C}"/>
              </a:ext>
            </a:extLst>
          </p:cNvPr>
          <p:cNvSpPr/>
          <p:nvPr/>
        </p:nvSpPr>
        <p:spPr>
          <a:xfrm>
            <a:off x="7804979" y="5034578"/>
            <a:ext cx="3178453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[MO]</a:t>
            </a:r>
            <a:endParaRPr lang="ko-KR" altLang="en-US" sz="14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6B855F-1AA5-7650-A6F4-06E9FEA54612}"/>
              </a:ext>
            </a:extLst>
          </p:cNvPr>
          <p:cNvSpPr/>
          <p:nvPr/>
        </p:nvSpPr>
        <p:spPr>
          <a:xfrm>
            <a:off x="7804981" y="2876568"/>
            <a:ext cx="1225606" cy="1155204"/>
          </a:xfrm>
          <a:prstGeom prst="rect">
            <a:avLst/>
          </a:prstGeom>
          <a:solidFill>
            <a:schemeClr val="bg2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latin typeface="프리젠테이션 3 Light" pitchFamily="2" charset="-127"/>
                <a:ea typeface="프리젠테이션 3 Light" pitchFamily="2" charset="-127"/>
              </a:rPr>
              <a:t>사용 불가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A818C4-F9E9-5B78-48D1-DE1C63BA5B1E}"/>
              </a:ext>
            </a:extLst>
          </p:cNvPr>
          <p:cNvSpPr/>
          <p:nvPr/>
        </p:nvSpPr>
        <p:spPr>
          <a:xfrm>
            <a:off x="341243" y="1151290"/>
            <a:ext cx="11509513" cy="3719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원고 내 보험료 기재 불가 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이미지에 보험료 들어간 경우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블러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처리 부탁드립니다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.)</a:t>
            </a:r>
            <a:endParaRPr lang="ko-KR" altLang="en-US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57B42A9-EAA2-7CAF-C229-783A6A6A78E4}"/>
              </a:ext>
            </a:extLst>
          </p:cNvPr>
          <p:cNvSpPr/>
          <p:nvPr/>
        </p:nvSpPr>
        <p:spPr>
          <a:xfrm>
            <a:off x="341242" y="5248675"/>
            <a:ext cx="11509513" cy="14441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dirty="0">
              <a:solidFill>
                <a:srgbClr val="FF0000"/>
              </a:solidFill>
              <a:highlight>
                <a:srgbClr val="FFFF00"/>
              </a:highlight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1.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5 Medium" pitchFamily="2" charset="-127"/>
                <a:ea typeface="프리젠테이션 5 Medium" pitchFamily="2" charset="-127"/>
              </a:rPr>
              <a:t>★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  <a:latin typeface="프리젠테이션 4 Regular" pitchFamily="2" charset="-127"/>
                <a:ea typeface="프리젠테이션 4 Regular" pitchFamily="2" charset="-127"/>
              </a:rPr>
              <a:t>출국 항공기 지연 손해 특약 제외 필요</a:t>
            </a:r>
            <a:endParaRPr lang="en-US" altLang="ko-KR" sz="1400" dirty="0">
              <a:solidFill>
                <a:srgbClr val="FF0000"/>
              </a:solidFill>
              <a:highlight>
                <a:srgbClr val="FFFF00"/>
              </a:highlight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-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 위 특약의 경우</a:t>
            </a:r>
            <a:r>
              <a:rPr lang="en-US" altLang="ko-KR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다이렉트 상품에서 보장하는 특약 아니므로 내용에서 제외 필요</a:t>
            </a:r>
            <a:r>
              <a:rPr lang="en-US" altLang="ko-KR" sz="1400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 !!</a:t>
            </a:r>
            <a:endParaRPr lang="en-US" altLang="ko-KR" sz="1400" dirty="0">
              <a:solidFill>
                <a:srgbClr val="FF0000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40DEEA-E171-D03D-BD72-40F5B3D0FFB6}"/>
              </a:ext>
            </a:extLst>
          </p:cNvPr>
          <p:cNvSpPr/>
          <p:nvPr/>
        </p:nvSpPr>
        <p:spPr>
          <a:xfrm>
            <a:off x="9353327" y="3320085"/>
            <a:ext cx="1464829" cy="372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0070C0"/>
                </a:solidFill>
                <a:latin typeface="프리젠테이션 3 Light" pitchFamily="2" charset="-127"/>
                <a:ea typeface="프리젠테이션 3 Light" pitchFamily="2" charset="-127"/>
              </a:rPr>
              <a:t>사용 가능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5B2AB7-5EDE-2688-6FA8-B599C09C01EE}"/>
              </a:ext>
            </a:extLst>
          </p:cNvPr>
          <p:cNvSpPr txBox="1"/>
          <p:nvPr/>
        </p:nvSpPr>
        <p:spPr>
          <a:xfrm>
            <a:off x="10770781" y="3978732"/>
            <a:ext cx="425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프리젠테이션 3 Light" pitchFamily="2" charset="-127"/>
                <a:ea typeface="프리젠테이션 3 Light" pitchFamily="2" charset="-127"/>
                <a:hlinkClick r:id="rId6"/>
              </a:rPr>
              <a:t>링크</a:t>
            </a:r>
            <a:endParaRPr lang="ko-KR" altLang="en-US" sz="105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6C93DA-E431-7EE7-3812-A9CFCFB248CF}"/>
              </a:ext>
            </a:extLst>
          </p:cNvPr>
          <p:cNvSpPr/>
          <p:nvPr/>
        </p:nvSpPr>
        <p:spPr>
          <a:xfrm>
            <a:off x="2931886" y="2398744"/>
            <a:ext cx="881723" cy="372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70C0"/>
                </a:solidFill>
                <a:latin typeface="프리젠테이션 3 Light" pitchFamily="2" charset="-127"/>
                <a:ea typeface="프리젠테이션 3 Light" pitchFamily="2" charset="-127"/>
              </a:rPr>
              <a:t>사용 가능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9D7EFF-B802-80BB-F4F9-263B3CCBB8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3" r="20269"/>
          <a:stretch>
            <a:fillRect/>
          </a:stretch>
        </p:blipFill>
        <p:spPr>
          <a:xfrm>
            <a:off x="3955377" y="2247954"/>
            <a:ext cx="2395568" cy="199238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13544A-5990-178F-CFC1-86A5BD55C1E0}"/>
              </a:ext>
            </a:extLst>
          </p:cNvPr>
          <p:cNvSpPr/>
          <p:nvPr/>
        </p:nvSpPr>
        <p:spPr>
          <a:xfrm>
            <a:off x="5214276" y="2398744"/>
            <a:ext cx="881723" cy="372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70C0"/>
                </a:solidFill>
                <a:latin typeface="프리젠테이션 3 Light" pitchFamily="2" charset="-127"/>
                <a:ea typeface="프리젠테이션 3 Light" pitchFamily="2" charset="-127"/>
              </a:rPr>
              <a:t>사용 가능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D86F1-E5F5-FE87-0CB3-66D2B68D7F8D}"/>
              </a:ext>
            </a:extLst>
          </p:cNvPr>
          <p:cNvSpPr txBox="1"/>
          <p:nvPr/>
        </p:nvSpPr>
        <p:spPr>
          <a:xfrm>
            <a:off x="5001597" y="4443921"/>
            <a:ext cx="425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프리젠테이션 3 Light" pitchFamily="2" charset="-127"/>
                <a:ea typeface="프리젠테이션 3 Light" pitchFamily="2" charset="-127"/>
                <a:hlinkClick r:id="rId8"/>
              </a:rPr>
              <a:t>링크</a:t>
            </a:r>
            <a:endParaRPr lang="ko-KR" altLang="en-US" sz="105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37338D-D28D-5751-A73A-8F62872FB203}"/>
              </a:ext>
            </a:extLst>
          </p:cNvPr>
          <p:cNvSpPr/>
          <p:nvPr/>
        </p:nvSpPr>
        <p:spPr>
          <a:xfrm>
            <a:off x="442473" y="4705531"/>
            <a:ext cx="3371136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▲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리아페이지</a:t>
            </a:r>
            <a:endParaRPr lang="ko-KR" altLang="en-US" sz="14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40C974-9985-5045-DE3C-AFD37778030C}"/>
              </a:ext>
            </a:extLst>
          </p:cNvPr>
          <p:cNvSpPr/>
          <p:nvPr/>
        </p:nvSpPr>
        <p:spPr>
          <a:xfrm>
            <a:off x="3969569" y="4705531"/>
            <a:ext cx="2126430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▲ 상품 상세페이지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E790F4-4248-7281-3FE0-A6E41F9988CC}"/>
              </a:ext>
            </a:extLst>
          </p:cNvPr>
          <p:cNvSpPr/>
          <p:nvPr/>
        </p:nvSpPr>
        <p:spPr>
          <a:xfrm>
            <a:off x="9394205" y="4621860"/>
            <a:ext cx="1589227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▲ 상품 상세페이지</a:t>
            </a:r>
          </a:p>
        </p:txBody>
      </p:sp>
    </p:spTree>
    <p:extLst>
      <p:ext uri="{BB962C8B-B14F-4D97-AF65-F5344CB8AC3E}">
        <p14:creationId xmlns:p14="http://schemas.microsoft.com/office/powerpoint/2010/main" val="360174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DF05-E5DA-D9D1-5DC7-97B2E826E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A6F6963-86EA-02D1-CFBE-74647561C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9076" y="1799170"/>
            <a:ext cx="1064543" cy="2307337"/>
          </a:xfrm>
          <a:prstGeom prst="rect">
            <a:avLst/>
          </a:prstGeom>
        </p:spPr>
      </p:pic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3336D5E-6175-6608-312C-0C3FB41B22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블로그 원고 </a:t>
            </a:r>
            <a:r>
              <a:rPr lang="en-US" altLang="ko-KR" dirty="0"/>
              <a:t>(</a:t>
            </a:r>
            <a:r>
              <a:rPr lang="ko-KR" altLang="en-US" dirty="0"/>
              <a:t>배포형</a:t>
            </a:r>
            <a:r>
              <a:rPr lang="en-US" altLang="ko-KR" dirty="0"/>
              <a:t>) </a:t>
            </a:r>
            <a:r>
              <a:rPr lang="ko-KR" altLang="en-US" dirty="0"/>
              <a:t>및 자사 블로그 원고 작성 가이드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C0D372-1801-EB40-5A2C-77166EFB823E}"/>
              </a:ext>
            </a:extLst>
          </p:cNvPr>
          <p:cNvSpPr/>
          <p:nvPr/>
        </p:nvSpPr>
        <p:spPr>
          <a:xfrm>
            <a:off x="341244" y="788524"/>
            <a:ext cx="11509513" cy="309152"/>
          </a:xfrm>
          <a:prstGeom prst="rect">
            <a:avLst/>
          </a:prstGeom>
          <a:solidFill>
            <a:srgbClr val="CAED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추가 특이사항 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(0427</a:t>
            </a:r>
            <a:r>
              <a:rPr lang="ko-KR" altLang="en-US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추가</a:t>
            </a:r>
            <a:r>
              <a:rPr lang="en-US" altLang="ko-KR" sz="16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699568-0B4A-ED3D-DFFB-8DDD45107C81}"/>
              </a:ext>
            </a:extLst>
          </p:cNvPr>
          <p:cNvSpPr/>
          <p:nvPr/>
        </p:nvSpPr>
        <p:spPr>
          <a:xfrm>
            <a:off x="287487" y="4655749"/>
            <a:ext cx="2381897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상품 상세페이지 </a:t>
            </a:r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PC]</a:t>
            </a:r>
            <a:endParaRPr lang="ko-KR" altLang="en-US" sz="14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1959AC7-2B56-0B15-A0E1-EC6C28613824}"/>
              </a:ext>
            </a:extLst>
          </p:cNvPr>
          <p:cNvSpPr/>
          <p:nvPr/>
        </p:nvSpPr>
        <p:spPr>
          <a:xfrm>
            <a:off x="2723140" y="4655749"/>
            <a:ext cx="1556417" cy="2624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[</a:t>
            </a:r>
            <a:r>
              <a:rPr lang="ko-KR" altLang="en-US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상품 상세페이지 </a:t>
            </a:r>
            <a:r>
              <a:rPr lang="en-US" altLang="ko-KR" sz="14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MO]</a:t>
            </a:r>
            <a:endParaRPr lang="ko-KR" altLang="en-US" sz="14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9BF3799-B421-038F-3F5D-89615C7D437A}"/>
              </a:ext>
            </a:extLst>
          </p:cNvPr>
          <p:cNvSpPr/>
          <p:nvPr/>
        </p:nvSpPr>
        <p:spPr>
          <a:xfrm>
            <a:off x="341243" y="1151290"/>
            <a:ext cx="11509513" cy="3719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1.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하기 상품 상세페이지에서 </a:t>
            </a:r>
            <a:r>
              <a:rPr lang="ko-KR" altLang="en-US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캡처화면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원고 내 사용 시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아래 </a:t>
            </a:r>
            <a:r>
              <a:rPr lang="ko-KR" altLang="en-US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세부 안내사항도 함께 나오게 캡처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필요 </a:t>
            </a:r>
            <a:r>
              <a:rPr lang="en-US" altLang="ko-KR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이미지 내 </a:t>
            </a:r>
            <a:r>
              <a:rPr lang="ko-KR" altLang="en-US" sz="1400" dirty="0" err="1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빨간박스</a:t>
            </a:r>
            <a:r>
              <a:rPr lang="ko-KR" altLang="en-US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 영역</a:t>
            </a:r>
            <a:r>
              <a:rPr lang="en-US" altLang="ko-KR" sz="1400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348601-EBB6-DD19-2BE3-9968485D70CF}"/>
              </a:ext>
            </a:extLst>
          </p:cNvPr>
          <p:cNvSpPr txBox="1"/>
          <p:nvPr/>
        </p:nvSpPr>
        <p:spPr>
          <a:xfrm>
            <a:off x="3288697" y="4114485"/>
            <a:ext cx="425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프리젠테이션 3 Light" pitchFamily="2" charset="-127"/>
                <a:ea typeface="프리젠테이션 3 Light" pitchFamily="2" charset="-127"/>
                <a:hlinkClick r:id="rId4"/>
              </a:rPr>
              <a:t>링크</a:t>
            </a:r>
            <a:endParaRPr lang="ko-KR" altLang="en-US" sz="105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1F89B5-6EB8-5386-0623-91E042D45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8" r="20183"/>
          <a:stretch>
            <a:fillRect/>
          </a:stretch>
        </p:blipFill>
        <p:spPr>
          <a:xfrm>
            <a:off x="187411" y="1837245"/>
            <a:ext cx="2484639" cy="19975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83F4D8-B003-BECD-D3FB-A86C7CADACF5}"/>
              </a:ext>
            </a:extLst>
          </p:cNvPr>
          <p:cNvSpPr txBox="1"/>
          <p:nvPr/>
        </p:nvSpPr>
        <p:spPr>
          <a:xfrm>
            <a:off x="1265784" y="4114485"/>
            <a:ext cx="4253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프리젠테이션 3 Light" pitchFamily="2" charset="-127"/>
                <a:ea typeface="프리젠테이션 3 Light" pitchFamily="2" charset="-127"/>
                <a:hlinkClick r:id="rId6"/>
              </a:rPr>
              <a:t>링크</a:t>
            </a:r>
            <a:endParaRPr lang="ko-KR" altLang="en-US" sz="105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4DD24C-0E6A-43E7-DCE9-FFF326805F86}"/>
              </a:ext>
            </a:extLst>
          </p:cNvPr>
          <p:cNvSpPr/>
          <p:nvPr/>
        </p:nvSpPr>
        <p:spPr>
          <a:xfrm>
            <a:off x="333208" y="5154526"/>
            <a:ext cx="11509513" cy="1301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2.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★ 보험상품 확인 링크 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하기 두 링크 외 확인되는 상품에 대한 내용 작성 불가</a:t>
            </a:r>
            <a:r>
              <a:rPr lang="en-US" altLang="ko-KR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. </a:t>
            </a:r>
            <a:r>
              <a:rPr lang="ko-KR" altLang="en-US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즉 </a:t>
            </a:r>
            <a:r>
              <a:rPr lang="en-US" altLang="ko-KR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‘</a:t>
            </a:r>
            <a:r>
              <a:rPr lang="ko-KR" altLang="en-US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삼성화재 다이렉트 해외여행보험</a:t>
            </a:r>
            <a:r>
              <a:rPr lang="en-US" altLang="ko-KR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’ </a:t>
            </a:r>
            <a:r>
              <a:rPr lang="ko-KR" altLang="en-US" sz="1400" u="sng" dirty="0">
                <a:solidFill>
                  <a:srgbClr val="FF0000"/>
                </a:solidFill>
                <a:latin typeface="프리젠테이션 5 Medium" pitchFamily="2" charset="-127"/>
                <a:ea typeface="프리젠테이션 5 Medium" pitchFamily="2" charset="-127"/>
              </a:rPr>
              <a:t>상품만 가능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rgbClr val="467886"/>
                </a:solidFill>
                <a:latin typeface="프리젠테이션 5 Medium" pitchFamily="2" charset="-127"/>
                <a:ea typeface="프리젠테이션 5 Medium" pitchFamily="2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ㄴ</a:t>
            </a:r>
            <a:r>
              <a:rPr lang="ko-KR" altLang="en-US" sz="1400" dirty="0">
                <a:solidFill>
                  <a:srgbClr val="467886"/>
                </a:solidFill>
                <a:latin typeface="프리젠테이션 5 Medium" pitchFamily="2" charset="-127"/>
                <a:ea typeface="프리젠테이션 5 Medium" pitchFamily="2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400" dirty="0">
                <a:solidFill>
                  <a:srgbClr val="467886"/>
                </a:solidFill>
                <a:latin typeface="프리젠테이션 5 Medium" pitchFamily="2" charset="-127"/>
                <a:ea typeface="프리젠테이션 5 Medium" pitchFamily="2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ko-KR" altLang="en-US" sz="1400" dirty="0">
                <a:solidFill>
                  <a:srgbClr val="467886"/>
                </a:solidFill>
                <a:latin typeface="프리젠테이션 5 Medium" pitchFamily="2" charset="-127"/>
                <a:ea typeface="프리젠테이션 5 Medium" pitchFamily="2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상품 상세페이지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altLang="ko-KR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 err="1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ㄴ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7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7"/>
              </a:rPr>
              <a:t>리아 페이지</a:t>
            </a: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  <a:hlinkClick r:id="rId7"/>
              </a:rPr>
              <a:t>)</a:t>
            </a:r>
            <a:endParaRPr lang="en-US" altLang="ko-KR" sz="1400" dirty="0">
              <a:solidFill>
                <a:schemeClr val="tx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- 7pge </a:t>
            </a:r>
            <a:r>
              <a:rPr lang="ko-KR" altLang="en-US" sz="1400" dirty="0">
                <a:solidFill>
                  <a:schemeClr val="tx1"/>
                </a:solidFill>
                <a:latin typeface="프리젠테이션 5 Medium" pitchFamily="2" charset="-127"/>
                <a:ea typeface="프리젠테이션 5 Medium" pitchFamily="2" charset="-127"/>
              </a:rPr>
              <a:t>참고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625307-4BBD-90AA-FA77-CA73CF1FF25D}"/>
              </a:ext>
            </a:extLst>
          </p:cNvPr>
          <p:cNvSpPr/>
          <p:nvPr/>
        </p:nvSpPr>
        <p:spPr>
          <a:xfrm>
            <a:off x="4475018" y="1511871"/>
            <a:ext cx="7367703" cy="3672901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15122C-B5C7-F5C6-D05C-91B084A34D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137" y="1759612"/>
            <a:ext cx="3865085" cy="31908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6A5962C-5274-6DC0-714C-82B054253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1" t="18893" r="29181"/>
          <a:stretch>
            <a:fillRect/>
          </a:stretch>
        </p:blipFill>
        <p:spPr>
          <a:xfrm>
            <a:off x="4674730" y="1985172"/>
            <a:ext cx="2906249" cy="27376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FD5077C-957E-FD54-6A78-A5A601CB8DD2}"/>
              </a:ext>
            </a:extLst>
          </p:cNvPr>
          <p:cNvSpPr/>
          <p:nvPr/>
        </p:nvSpPr>
        <p:spPr>
          <a:xfrm>
            <a:off x="4985657" y="4034971"/>
            <a:ext cx="2365829" cy="6207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290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1859</Words>
  <Application>Microsoft Office PowerPoint</Application>
  <PresentationFormat>와이드스크린</PresentationFormat>
  <Paragraphs>210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AppleSDGothicNeoM00</vt:lpstr>
      <vt:lpstr>KoPub돋움체 Bold</vt:lpstr>
      <vt:lpstr>맑은 고딕</vt:lpstr>
      <vt:lpstr>프리젠테이션 3 Light</vt:lpstr>
      <vt:lpstr>프리젠테이션 4 Regular</vt:lpstr>
      <vt:lpstr>프리젠테이션 5 Medium</vt:lpstr>
      <vt:lpstr>프리젠테이션 6 SemiBold</vt:lpstr>
      <vt:lpstr>프리젠테이션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지민</dc:creator>
  <cp:lastModifiedBy>김 지민</cp:lastModifiedBy>
  <cp:revision>49</cp:revision>
  <dcterms:created xsi:type="dcterms:W3CDTF">2026-01-15T08:19:47Z</dcterms:created>
  <dcterms:modified xsi:type="dcterms:W3CDTF">2026-06-23T01:51:25Z</dcterms:modified>
</cp:coreProperties>
</file>